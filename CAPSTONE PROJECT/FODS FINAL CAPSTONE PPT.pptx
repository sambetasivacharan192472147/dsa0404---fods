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61" r:id="rId5"/>
    <p:sldId id="262" r:id="rId6"/>
    <p:sldId id="264" r:id="rId7"/>
    <p:sldId id="265" r:id="rId8"/>
    <p:sldId id="272" r:id="rId9"/>
    <p:sldId id="266" r:id="rId10"/>
    <p:sldId id="267" r:id="rId11"/>
    <p:sldId id="273" r:id="rId12"/>
    <p:sldId id="274" r:id="rId13"/>
    <p:sldId id="275" r:id="rId14"/>
    <p:sldId id="276" r:id="rId15"/>
    <p:sldId id="268" r:id="rId16"/>
    <p:sldId id="269" r:id="rId17"/>
    <p:sldId id="270" r:id="rId18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38" autoAdjust="0"/>
    <p:restoredTop sz="94660"/>
  </p:normalViewPr>
  <p:slideViewPr>
    <p:cSldViewPr>
      <p:cViewPr>
        <p:scale>
          <a:sx n="100" d="100"/>
          <a:sy n="100" d="100"/>
        </p:scale>
        <p:origin x="19" y="5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slide" Target="slides/slide17.xml" /><Relationship Id="rId3" Type="http://schemas.openxmlformats.org/officeDocument/2006/relationships/slide" Target="slides/slide2.xml" /><Relationship Id="rId21" Type="http://schemas.openxmlformats.org/officeDocument/2006/relationships/theme" Target="theme/theme1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slide" Target="slides/slide16.xml" /><Relationship Id="rId2" Type="http://schemas.openxmlformats.org/officeDocument/2006/relationships/slide" Target="slides/slide1.xml" /><Relationship Id="rId16" Type="http://schemas.openxmlformats.org/officeDocument/2006/relationships/slide" Target="slides/slide15.xml" /><Relationship Id="rId20" Type="http://schemas.openxmlformats.org/officeDocument/2006/relationships/viewProps" Target="viewProps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slide" Target="slides/slide14.xml" /><Relationship Id="rId10" Type="http://schemas.openxmlformats.org/officeDocument/2006/relationships/slide" Target="slides/slide9.xml" /><Relationship Id="rId19" Type="http://schemas.openxmlformats.org/officeDocument/2006/relationships/presProps" Target="presProps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Relationship Id="rId22" Type="http://schemas.openxmlformats.org/officeDocument/2006/relationships/tableStyles" Target="tableStyle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95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1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95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1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95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9/4/2026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95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9/4/2026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9/4/2026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theme" Target="../theme/theme1.xml" /><Relationship Id="rId5" Type="http://schemas.openxmlformats.org/officeDocument/2006/relationships/slideLayout" Target="../slideLayouts/slideLayout5.xml" /><Relationship Id="rId4" Type="http://schemas.openxmlformats.org/officeDocument/2006/relationships/slideLayout" Target="../slideLayouts/slideLayout4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402714" y="257810"/>
            <a:ext cx="10794365" cy="11855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95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27430" y="1771332"/>
            <a:ext cx="9857740" cy="39973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1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2.xml" 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image" Target="../media/image2.png" /><Relationship Id="rId1" Type="http://schemas.openxmlformats.org/officeDocument/2006/relationships/slideLayout" Target="../slideLayouts/slideLayout4.xml" 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2.xml" 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2.xml" 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2.xml" 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2.xml" 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image" Target="../media/image3.jpeg" /><Relationship Id="rId1" Type="http://schemas.openxmlformats.org/officeDocument/2006/relationships/slideLayout" Target="../slideLayouts/slideLayout4.xml" 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2.xml" 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2.xml" 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2.xml" 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2.xml" 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2.xml" 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2.xml" 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2.xml" 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 /><Relationship Id="rId1" Type="http://schemas.openxmlformats.org/officeDocument/2006/relationships/slideLayout" Target="../slideLayouts/slideLayout5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983753" y="1716046"/>
            <a:ext cx="10224491" cy="1124667"/>
          </a:xfrm>
          <a:prstGeom prst="rect">
            <a:avLst/>
          </a:prstGeom>
        </p:spPr>
        <p:txBody>
          <a:bodyPr vert="horz" wrap="square" lIns="0" tIns="16510" rIns="0" bIns="0" rtlCol="0" anchor="t">
            <a:spAutoFit/>
          </a:bodyPr>
          <a:lstStyle/>
          <a:p>
            <a:pPr marL="12700" algn="ctr">
              <a:spcBef>
                <a:spcPts val="130"/>
              </a:spcBef>
            </a:pPr>
            <a:r>
              <a:rPr lang="en-US" sz="3600" b="1" dirty="0"/>
              <a:t>Student </a:t>
            </a:r>
            <a:r>
              <a:rPr lang="en-US" sz="3600" b="1" dirty="0">
                <a:latin typeface="Times New Roman"/>
                <a:cs typeface="Times New Roman"/>
              </a:rPr>
              <a:t>Performance</a:t>
            </a:r>
            <a:r>
              <a:rPr lang="en-US" sz="3600" b="1" dirty="0"/>
              <a:t>  Analysis Using Exploratory Data Analysis</a:t>
            </a:r>
            <a:endParaRPr lang="en-US" sz="3600">
              <a:solidFill>
                <a:srgbClr val="EEF0FF"/>
              </a:solidFill>
              <a:highlight>
                <a:srgbClr val="22242A"/>
              </a:highlight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668621" y="3232404"/>
            <a:ext cx="8138517" cy="385362"/>
          </a:xfrm>
          <a:prstGeom prst="rect">
            <a:avLst/>
          </a:prstGeom>
        </p:spPr>
        <p:txBody>
          <a:bodyPr vert="horz" wrap="square" lIns="0" tIns="15875" rIns="0" bIns="0" rtlCol="0" anchor="t">
            <a:spAutoFit/>
          </a:bodyPr>
          <a:lstStyle/>
          <a:p>
            <a:pPr marL="12700" algn="just">
              <a:spcBef>
                <a:spcPts val="125"/>
              </a:spcBef>
            </a:pPr>
            <a:r>
              <a:rPr lang="en-US" sz="2400" spc="-180" dirty="0">
                <a:latin typeface="Times New Roman"/>
                <a:cs typeface="Times New Roman"/>
              </a:rPr>
              <a:t>DSA0404  - FUNDAMENTALS   OF  DATA  SCIENCE   </a:t>
            </a:r>
            <a:endParaRPr lang="en-US" sz="2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001000" y="4590199"/>
            <a:ext cx="2552218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20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</a:t>
            </a:r>
            <a:r>
              <a:rPr lang="en-IN" sz="2000" b="1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b="1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BY: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001000" y="5033803"/>
            <a:ext cx="4343400" cy="160300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0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 . Mohammad Taher (192524366)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20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 . Siva Charan (192472147)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20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Sravan Kumar Y(192472289)</a:t>
            </a:r>
          </a:p>
          <a:p>
            <a:pPr marL="12700">
              <a:spcBef>
                <a:spcPts val="100"/>
              </a:spcBef>
            </a:pP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spcBef>
                <a:spcPts val="100"/>
              </a:spcBef>
            </a:pP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92688" y="4590199"/>
            <a:ext cx="1779307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GUIDED</a:t>
            </a:r>
            <a:r>
              <a:rPr lang="en-IN" sz="2000" b="1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b="1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BY: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82079" y="5060842"/>
            <a:ext cx="3156521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Krishnaraj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Mony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 descr="SSE-Computer Science and Engineering">
            <a:extLst>
              <a:ext uri="{FF2B5EF4-FFF2-40B4-BE49-F238E27FC236}">
                <a16:creationId xmlns:a16="http://schemas.microsoft.com/office/drawing/2014/main" id="{6749E6CC-8CF6-D538-860D-4EFEAEE0CA7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08" b="1282"/>
          <a:stretch>
            <a:fillRect/>
          </a:stretch>
        </p:blipFill>
        <p:spPr>
          <a:xfrm>
            <a:off x="914400" y="234421"/>
            <a:ext cx="10351985" cy="87446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6020EC12-166D-59FB-983E-A4668428E4DF}"/>
              </a:ext>
            </a:extLst>
          </p:cNvPr>
          <p:cNvSpPr txBox="1"/>
          <p:nvPr/>
        </p:nvSpPr>
        <p:spPr>
          <a:xfrm>
            <a:off x="862508" y="2162584"/>
            <a:ext cx="10445749" cy="511531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/>
              <a:buChar char="•"/>
            </a:pPr>
            <a:r>
              <a:rPr lang="en-IN" sz="2000" dirty="0">
                <a:latin typeface="Times New Roman"/>
                <a:cs typeface="Times New Roman"/>
              </a:rPr>
              <a:t>Student academic performance is influenced by factors such as attendance, assignment scores, internal marks, previous marks, and study hours. </a:t>
            </a:r>
            <a:endParaRPr lang="en-IN" sz="200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285750" indent="-285750" algn="just">
              <a:lnSpc>
                <a:spcPct val="150000"/>
              </a:lnSpc>
              <a:buFont typeface="Arial"/>
              <a:buChar char="•"/>
            </a:pPr>
            <a:r>
              <a:rPr lang="en-IN" sz="2000" dirty="0">
                <a:latin typeface="Times New Roman"/>
                <a:cs typeface="Times New Roman"/>
              </a:rPr>
              <a:t>The Student Performance Analyser uses data science techniques to analyse academic records and identify important performance patterns and trends. </a:t>
            </a:r>
          </a:p>
          <a:p>
            <a:pPr marL="285750" indent="-285750" algn="just">
              <a:lnSpc>
                <a:spcPct val="150000"/>
              </a:lnSpc>
              <a:buFont typeface="Arial"/>
              <a:buChar char="•"/>
            </a:pPr>
            <a:r>
              <a:rPr lang="en-IN" sz="2000" dirty="0">
                <a:latin typeface="Times New Roman"/>
                <a:cs typeface="Times New Roman"/>
              </a:rPr>
              <a:t>Data preprocessing and Exploratory Data Analysis (EDA) are used to clean the data and understand relationships between different academic factors. </a:t>
            </a:r>
          </a:p>
          <a:p>
            <a:pPr marL="285750" indent="-285750" algn="just">
              <a:lnSpc>
                <a:spcPct val="150000"/>
              </a:lnSpc>
              <a:buFont typeface="Arial"/>
              <a:buChar char="•"/>
            </a:pPr>
            <a:r>
              <a:rPr lang="en-IN" sz="2000" dirty="0">
                <a:latin typeface="Times New Roman"/>
                <a:cs typeface="Times New Roman"/>
              </a:rPr>
              <a:t>Machine learning techniques are applied to predict students' final performance based on their academic and related attributes. </a:t>
            </a:r>
          </a:p>
          <a:p>
            <a:pPr marL="285750" indent="-285750" algn="just">
              <a:lnSpc>
                <a:spcPct val="150000"/>
              </a:lnSpc>
              <a:buFont typeface="Arial"/>
              <a:buChar char="•"/>
            </a:pPr>
            <a:r>
              <a:rPr lang="en-IN" sz="2000" dirty="0">
                <a:latin typeface="Times New Roman"/>
                <a:cs typeface="Times New Roman"/>
              </a:rPr>
              <a:t>The system provides an interactive dashboard and performance insights to help faculty identify students who may need additional support and make timely, data-driven academic decisions. </a:t>
            </a:r>
          </a:p>
          <a:p>
            <a:pPr marL="285750" indent="-285750" algn="just">
              <a:lnSpc>
                <a:spcPct val="150000"/>
              </a:lnSpc>
              <a:buFont typeface="Arial"/>
              <a:buChar char="•"/>
            </a:pPr>
            <a:endParaRPr lang="en-IN" sz="2000" dirty="0">
              <a:latin typeface="Times New Roman"/>
              <a:cs typeface="Times New Roman"/>
            </a:endParaRPr>
          </a:p>
        </p:txBody>
      </p:sp>
      <p:sp>
        <p:nvSpPr>
          <p:cNvPr id="5" name="TextBox 9">
            <a:extLst>
              <a:ext uri="{FF2B5EF4-FFF2-40B4-BE49-F238E27FC236}">
                <a16:creationId xmlns:a16="http://schemas.microsoft.com/office/drawing/2014/main" id="{B6A24349-AA4E-0607-22DF-23EEC42C55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4012" y="1427131"/>
            <a:ext cx="10445749" cy="527049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 w="9525">
            <a:noFill/>
            <a:miter lim="800000"/>
          </a:ln>
        </p:spPr>
        <p:txBody>
          <a:bodyPr lIns="91440" tIns="45720" rIns="91440" bIns="4572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sz="3200" b="1" dirty="0">
                <a:solidFill>
                  <a:schemeClr val="bg1"/>
                </a:solidFill>
                <a:latin typeface="Palatino Linotype"/>
                <a:ea typeface="+mj-ea"/>
                <a:cs typeface="+mj-cs"/>
              </a:rPr>
              <a:t>Introduction</a:t>
            </a:r>
            <a:endParaRPr lang="en-US" sz="3200" b="1" dirty="0">
              <a:solidFill>
                <a:schemeClr val="bg1"/>
              </a:solidFill>
              <a:latin typeface="Palatino Linotype" panose="02040502050505030304" pitchFamily="18" charset="0"/>
              <a:ea typeface="+mj-ea"/>
              <a:cs typeface="+mj-cs"/>
            </a:endParaRPr>
          </a:p>
        </p:txBody>
      </p:sp>
      <p:pic>
        <p:nvPicPr>
          <p:cNvPr id="7" name="Picture 6" descr="SSE-Computer Science and Engineering">
            <a:extLst>
              <a:ext uri="{FF2B5EF4-FFF2-40B4-BE49-F238E27FC236}">
                <a16:creationId xmlns:a16="http://schemas.microsoft.com/office/drawing/2014/main" id="{6A2066EA-06D5-87B1-8EF2-ECAED6B83B4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08" b="1282"/>
          <a:stretch>
            <a:fillRect/>
          </a:stretch>
        </p:blipFill>
        <p:spPr>
          <a:xfrm>
            <a:off x="861483" y="266171"/>
            <a:ext cx="10436652" cy="87446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865717" y="1958218"/>
            <a:ext cx="10453031" cy="5039649"/>
          </a:xfrm>
          <a:prstGeom prst="rect">
            <a:avLst/>
          </a:prstGeom>
        </p:spPr>
        <p:txBody>
          <a:bodyPr vert="horz" wrap="square" lIns="0" tIns="16510" rIns="0" bIns="0" rtlCol="0" anchor="t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/>
              <a:buChar char="•"/>
            </a:pPr>
            <a:r>
              <a:rPr lang="en-IN" sz="2000" dirty="0">
                <a:latin typeface="Times New Roman"/>
                <a:cs typeface="Times New Roman"/>
              </a:rPr>
              <a:t>To collect and preprocess student academic data, including marks, attendance, assignment scores, study hours, and previous academic performance. </a:t>
            </a:r>
            <a:endParaRPr lang="en-IN" sz="200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342900" indent="-342900" algn="just">
              <a:lnSpc>
                <a:spcPct val="150000"/>
              </a:lnSpc>
              <a:buFont typeface="Arial"/>
              <a:buChar char="•"/>
            </a:pPr>
            <a:r>
              <a:rPr lang="en-IN" sz="2000" dirty="0">
                <a:latin typeface="Times New Roman"/>
                <a:cs typeface="Times New Roman"/>
              </a:rPr>
              <a:t>To explore and analyse academic data using statistical and Exploratory Data Analysis (EDA) techniques to identify important performance patterns and trends. </a:t>
            </a:r>
          </a:p>
          <a:p>
            <a:pPr marL="342900" indent="-342900" algn="just">
              <a:lnSpc>
                <a:spcPct val="150000"/>
              </a:lnSpc>
              <a:buFont typeface="Arial"/>
              <a:buChar char="•"/>
            </a:pPr>
            <a:r>
              <a:rPr lang="en-IN" sz="2000" dirty="0">
                <a:latin typeface="Times New Roman"/>
                <a:cs typeface="Times New Roman"/>
              </a:rPr>
              <a:t>To develop a machine learning model for predicting students' final academic performance based on relevant academic factors. </a:t>
            </a:r>
          </a:p>
          <a:p>
            <a:pPr marL="342900" indent="-342900" algn="just">
              <a:lnSpc>
                <a:spcPct val="150000"/>
              </a:lnSpc>
              <a:buFont typeface="Arial"/>
              <a:buChar char="•"/>
            </a:pPr>
            <a:r>
              <a:rPr lang="en-IN" sz="2000" dirty="0">
                <a:latin typeface="Times New Roman"/>
                <a:cs typeface="Times New Roman"/>
              </a:rPr>
              <a:t>To visualize and present student performance through interactive charts, dashboards, and individual performance reports for easy interpretation. </a:t>
            </a:r>
          </a:p>
          <a:p>
            <a:pPr marL="342900" indent="-342900" algn="just">
              <a:lnSpc>
                <a:spcPct val="150000"/>
              </a:lnSpc>
              <a:buFont typeface="Arial"/>
              <a:buChar char="•"/>
            </a:pPr>
            <a:r>
              <a:rPr lang="en-IN" sz="2000" dirty="0">
                <a:latin typeface="Times New Roman"/>
                <a:cs typeface="Times New Roman"/>
              </a:rPr>
              <a:t>To identify students at risk of poor performance and provide meaningful insights that can help faculty offer timely academic guidance and support.</a:t>
            </a:r>
          </a:p>
          <a:p>
            <a:pPr marL="342900" indent="-342900" algn="just">
              <a:lnSpc>
                <a:spcPct val="150000"/>
              </a:lnSpc>
              <a:buFont typeface="Arial"/>
              <a:buChar char="•"/>
            </a:pPr>
            <a:endParaRPr lang="en-IN" sz="2000" dirty="0">
              <a:latin typeface="Times New Roman"/>
              <a:cs typeface="Times New Roman"/>
            </a:endParaRPr>
          </a:p>
        </p:txBody>
      </p:sp>
      <p:pic>
        <p:nvPicPr>
          <p:cNvPr id="10" name="Picture 9" descr="SSE-Computer Science and Engineering">
            <a:extLst>
              <a:ext uri="{FF2B5EF4-FFF2-40B4-BE49-F238E27FC236}">
                <a16:creationId xmlns:a16="http://schemas.microsoft.com/office/drawing/2014/main" id="{5C4B31C9-989E-EB56-8E60-4C2725C30C3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08" b="1282"/>
          <a:stretch>
            <a:fillRect/>
          </a:stretch>
        </p:blipFill>
        <p:spPr>
          <a:xfrm>
            <a:off x="861483" y="266171"/>
            <a:ext cx="10436652" cy="874468"/>
          </a:xfrm>
          <a:prstGeom prst="rect">
            <a:avLst/>
          </a:prstGeom>
        </p:spPr>
      </p:pic>
      <p:sp>
        <p:nvSpPr>
          <p:cNvPr id="12" name="TextBox 9">
            <a:extLst>
              <a:ext uri="{FF2B5EF4-FFF2-40B4-BE49-F238E27FC236}">
                <a16:creationId xmlns:a16="http://schemas.microsoft.com/office/drawing/2014/main" id="{FC2239EC-C007-546D-08E9-D207581169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4012" y="1427131"/>
            <a:ext cx="10445749" cy="527049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 w="9525">
            <a:noFill/>
            <a:miter lim="800000"/>
          </a:ln>
        </p:spPr>
        <p:txBody>
          <a:bodyPr lIns="91440" tIns="45720" rIns="91440" bIns="4572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sz="3200" b="1">
                <a:solidFill>
                  <a:schemeClr val="bg1"/>
                </a:solidFill>
                <a:latin typeface="Palatino Linotype"/>
                <a:ea typeface="+mj-ea"/>
                <a:cs typeface="+mj-cs"/>
              </a:rPr>
              <a:t>Objectives</a:t>
            </a:r>
            <a:endParaRPr lang="en-US" sz="3200" b="1" dirty="0">
              <a:solidFill>
                <a:schemeClr val="bg1"/>
              </a:solidFill>
              <a:latin typeface="Palatino Linotype" panose="02040502050505030304" pitchFamily="18" charset="0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38BB7AA3-2E4E-4284-14C6-036CCBABB5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2150" y="2132422"/>
            <a:ext cx="10799232" cy="4587995"/>
          </a:xfrm>
          <a:prstGeom prst="rect">
            <a:avLst/>
          </a:prstGeom>
        </p:spPr>
      </p:pic>
      <p:sp>
        <p:nvSpPr>
          <p:cNvPr id="8" name="TextBox 9">
            <a:extLst>
              <a:ext uri="{FF2B5EF4-FFF2-40B4-BE49-F238E27FC236}">
                <a16:creationId xmlns:a16="http://schemas.microsoft.com/office/drawing/2014/main" id="{E1DA572F-FA13-BC9E-A286-93A40E3BC8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4678" y="1437715"/>
            <a:ext cx="10805582" cy="548215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 w="9525">
            <a:noFill/>
            <a:miter lim="800000"/>
          </a:ln>
        </p:spPr>
        <p:txBody>
          <a:bodyPr lIns="91440" tIns="45720" rIns="91440" bIns="4572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sz="3200" b="1" dirty="0">
                <a:solidFill>
                  <a:schemeClr val="bg1"/>
                </a:solidFill>
                <a:ea typeface="+mn-lt"/>
                <a:cs typeface="+mn-lt"/>
              </a:rPr>
              <a:t>Literature Review</a:t>
            </a:r>
            <a:endParaRPr lang="en-US" b="1" dirty="0">
              <a:solidFill>
                <a:schemeClr val="bg1"/>
              </a:solidFill>
              <a:ea typeface="Calibri"/>
              <a:cs typeface="Calibri"/>
            </a:endParaRPr>
          </a:p>
        </p:txBody>
      </p:sp>
      <p:pic>
        <p:nvPicPr>
          <p:cNvPr id="14" name="Picture 13" descr="SSE-Computer Science and Engineering">
            <a:extLst>
              <a:ext uri="{FF2B5EF4-FFF2-40B4-BE49-F238E27FC236}">
                <a16:creationId xmlns:a16="http://schemas.microsoft.com/office/drawing/2014/main" id="{AC3E3FF7-CBC1-452A-ACDC-F6AE3D981DC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08" b="1282"/>
          <a:stretch>
            <a:fillRect/>
          </a:stretch>
        </p:blipFill>
        <p:spPr>
          <a:xfrm>
            <a:off x="861483" y="308504"/>
            <a:ext cx="10436652" cy="87446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700617" y="2148773"/>
            <a:ext cx="10804280" cy="4498667"/>
          </a:xfrm>
          <a:prstGeom prst="rect">
            <a:avLst/>
          </a:prstGeom>
        </p:spPr>
        <p:txBody>
          <a:bodyPr vert="horz" wrap="square" lIns="0" tIns="109855" rIns="0" bIns="0" rtlCol="0" anchor="t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/>
              <a:buChar char="•"/>
            </a:pPr>
            <a:r>
              <a:rPr lang="en-IN" sz="1600" b="1">
                <a:latin typeface="Times New Roman"/>
                <a:cs typeface="Times New Roman"/>
              </a:rPr>
              <a:t>Input:</a:t>
            </a:r>
            <a:r>
              <a:rPr lang="en-IN" sz="1600">
                <a:latin typeface="Times New Roman"/>
                <a:cs typeface="Times New Roman"/>
              </a:rPr>
              <a:t> Load student academic dataset containing marks, attendance, assignments, study hours, and previous performance. </a:t>
            </a:r>
            <a:endParaRPr lang="en-IN" sz="160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285750" indent="-285750" algn="just">
              <a:lnSpc>
                <a:spcPct val="150000"/>
              </a:lnSpc>
              <a:buFont typeface="Arial"/>
              <a:buChar char="•"/>
            </a:pPr>
            <a:r>
              <a:rPr lang="en-IN" sz="1600" b="1">
                <a:latin typeface="Times New Roman"/>
                <a:cs typeface="Times New Roman"/>
              </a:rPr>
              <a:t>Preprocess Data:</a:t>
            </a:r>
            <a:r>
              <a:rPr lang="en-IN" sz="1600">
                <a:latin typeface="Times New Roman"/>
                <a:cs typeface="Times New Roman"/>
              </a:rPr>
              <a:t> Handle missing values, remove duplicates, encode categorical data, and normalize numerical features. </a:t>
            </a:r>
            <a:endParaRPr lang="en-IN" sz="1600" dirty="0">
              <a:latin typeface="Times New Roman"/>
              <a:cs typeface="Times New Roman"/>
            </a:endParaRPr>
          </a:p>
          <a:p>
            <a:pPr marL="285750" indent="-285750" algn="just">
              <a:lnSpc>
                <a:spcPct val="150000"/>
              </a:lnSpc>
              <a:buFont typeface="Arial"/>
              <a:buChar char="•"/>
            </a:pPr>
            <a:r>
              <a:rPr lang="en-IN" sz="1600" b="1">
                <a:latin typeface="Times New Roman"/>
                <a:cs typeface="Times New Roman"/>
              </a:rPr>
              <a:t>Perform EDA:</a:t>
            </a:r>
            <a:r>
              <a:rPr lang="en-IN" sz="1600">
                <a:latin typeface="Times New Roman"/>
                <a:cs typeface="Times New Roman"/>
              </a:rPr>
              <a:t> Calculate statistical measures and analyse relationships between academic factors and student performance. </a:t>
            </a:r>
            <a:endParaRPr lang="en-IN" sz="1600" dirty="0">
              <a:latin typeface="Times New Roman"/>
              <a:cs typeface="Times New Roman"/>
            </a:endParaRPr>
          </a:p>
          <a:p>
            <a:pPr marL="285750" indent="-285750" algn="just">
              <a:lnSpc>
                <a:spcPct val="150000"/>
              </a:lnSpc>
              <a:buFont typeface="Arial"/>
              <a:buChar char="•"/>
            </a:pPr>
            <a:r>
              <a:rPr lang="en-IN" sz="1600" b="1">
                <a:latin typeface="Times New Roman"/>
                <a:cs typeface="Times New Roman"/>
              </a:rPr>
              <a:t>Feature Selection:</a:t>
            </a:r>
            <a:r>
              <a:rPr lang="en-IN" sz="1600">
                <a:latin typeface="Times New Roman"/>
                <a:cs typeface="Times New Roman"/>
              </a:rPr>
              <a:t> Select relevant features affecting the final performance. </a:t>
            </a:r>
            <a:endParaRPr lang="en-IN" sz="1600" dirty="0">
              <a:latin typeface="Times New Roman"/>
              <a:cs typeface="Times New Roman"/>
            </a:endParaRPr>
          </a:p>
          <a:p>
            <a:pPr marL="285750" indent="-285750" algn="just">
              <a:lnSpc>
                <a:spcPct val="150000"/>
              </a:lnSpc>
              <a:buFont typeface="Arial"/>
              <a:buChar char="•"/>
            </a:pPr>
            <a:r>
              <a:rPr lang="en-IN" sz="1600" b="1">
                <a:latin typeface="Times New Roman"/>
                <a:cs typeface="Times New Roman"/>
              </a:rPr>
              <a:t>Model Training:</a:t>
            </a:r>
            <a:r>
              <a:rPr lang="en-IN" sz="1600">
                <a:latin typeface="Times New Roman"/>
                <a:cs typeface="Times New Roman"/>
              </a:rPr>
              <a:t> Split the dataset into training and testing sets and train Regression, Decision Tree, and Random Forest models. </a:t>
            </a:r>
            <a:endParaRPr lang="en-IN" sz="1600" dirty="0">
              <a:latin typeface="Times New Roman"/>
              <a:cs typeface="Times New Roman"/>
            </a:endParaRPr>
          </a:p>
          <a:p>
            <a:pPr marL="285750" indent="-285750" algn="just">
              <a:lnSpc>
                <a:spcPct val="150000"/>
              </a:lnSpc>
              <a:buFont typeface="Arial"/>
              <a:buChar char="•"/>
            </a:pPr>
            <a:r>
              <a:rPr lang="en-IN" sz="1600" b="1">
                <a:latin typeface="Times New Roman"/>
                <a:cs typeface="Times New Roman"/>
              </a:rPr>
              <a:t>Model Evaluation:</a:t>
            </a:r>
            <a:r>
              <a:rPr lang="en-IN" sz="1600">
                <a:latin typeface="Times New Roman"/>
                <a:cs typeface="Times New Roman"/>
              </a:rPr>
              <a:t> Generate predictions and evaluate the models using appropriate performance metrics; select the best-performing model. </a:t>
            </a:r>
            <a:endParaRPr lang="en-IN" sz="1600" dirty="0">
              <a:latin typeface="Times New Roman"/>
              <a:cs typeface="Times New Roman"/>
            </a:endParaRPr>
          </a:p>
          <a:p>
            <a:pPr marL="285750" indent="-285750" algn="just">
              <a:lnSpc>
                <a:spcPct val="150000"/>
              </a:lnSpc>
              <a:buFont typeface="Arial"/>
              <a:buChar char="•"/>
            </a:pPr>
            <a:r>
              <a:rPr lang="en-IN" sz="1600" b="1">
                <a:latin typeface="Times New Roman"/>
                <a:cs typeface="Times New Roman"/>
              </a:rPr>
              <a:t>Performance Prediction:</a:t>
            </a:r>
            <a:r>
              <a:rPr lang="en-IN" sz="1600">
                <a:latin typeface="Times New Roman"/>
                <a:cs typeface="Times New Roman"/>
              </a:rPr>
              <a:t> Use the selected model to predict the student's final score. </a:t>
            </a:r>
            <a:endParaRPr lang="en-IN" sz="1600" dirty="0">
              <a:latin typeface="Times New Roman"/>
              <a:cs typeface="Times New Roman"/>
            </a:endParaRPr>
          </a:p>
          <a:p>
            <a:pPr marL="285750" indent="-285750" algn="just">
              <a:lnSpc>
                <a:spcPct val="150000"/>
              </a:lnSpc>
              <a:buFont typeface="Arial"/>
              <a:buChar char="•"/>
            </a:pPr>
            <a:r>
              <a:rPr lang="en-IN" sz="1600" b="1">
                <a:latin typeface="Times New Roman"/>
                <a:cs typeface="Times New Roman"/>
              </a:rPr>
              <a:t>Performance Classification: </a:t>
            </a:r>
            <a:r>
              <a:rPr lang="en-IN" sz="1600">
                <a:latin typeface="Times New Roman"/>
                <a:cs typeface="Times New Roman"/>
              </a:rPr>
              <a:t>Categorize students as High, Average, or At-Risk based on the predicted performance. </a:t>
            </a:r>
            <a:endParaRPr lang="en-IN" sz="1600" dirty="0">
              <a:latin typeface="Times New Roman"/>
              <a:cs typeface="Times New Roman"/>
            </a:endParaRPr>
          </a:p>
          <a:p>
            <a:pPr marL="285750" indent="-285750" algn="just">
              <a:lnSpc>
                <a:spcPct val="150000"/>
              </a:lnSpc>
              <a:buFont typeface="Arial"/>
              <a:buChar char="•"/>
            </a:pPr>
            <a:r>
              <a:rPr lang="en-IN" sz="1600" b="1">
                <a:latin typeface="Times New Roman"/>
                <a:cs typeface="Times New Roman"/>
              </a:rPr>
              <a:t>Visualization: </a:t>
            </a:r>
            <a:r>
              <a:rPr lang="en-IN" sz="1600">
                <a:latin typeface="Times New Roman"/>
                <a:cs typeface="Times New Roman"/>
              </a:rPr>
              <a:t>Display performance statistics, trends, predictions, and at-risk students through an interactive dashboard. </a:t>
            </a:r>
            <a:endParaRPr lang="en-IN" sz="1600" dirty="0">
              <a:latin typeface="Times New Roman"/>
              <a:cs typeface="Times New Roman"/>
            </a:endParaRPr>
          </a:p>
          <a:p>
            <a:pPr marL="285750" indent="-285750" algn="just">
              <a:lnSpc>
                <a:spcPct val="150000"/>
              </a:lnSpc>
              <a:buFont typeface="Arial"/>
              <a:buChar char="•"/>
            </a:pPr>
            <a:r>
              <a:rPr lang="en-IN" sz="1600" b="1">
                <a:latin typeface="Times New Roman"/>
                <a:cs typeface="Times New Roman"/>
              </a:rPr>
              <a:t>Output:</a:t>
            </a:r>
            <a:r>
              <a:rPr lang="en-IN" sz="1600">
                <a:latin typeface="Times New Roman"/>
                <a:cs typeface="Times New Roman"/>
              </a:rPr>
              <a:t> Provide academic insights to support timely faculty guidance.</a:t>
            </a:r>
            <a:endParaRPr lang="en-IN" sz="1600" dirty="0">
              <a:latin typeface="Times New Roman"/>
              <a:cs typeface="Times New Roman"/>
            </a:endParaRPr>
          </a:p>
          <a:p>
            <a:pPr marL="285750" indent="-285750" algn="just">
              <a:lnSpc>
                <a:spcPct val="150000"/>
              </a:lnSpc>
              <a:buFont typeface="Arial"/>
              <a:buChar char="•"/>
            </a:pPr>
            <a:endParaRPr lang="en-IN" sz="1600" dirty="0">
              <a:latin typeface="Times New Roman"/>
              <a:cs typeface="Times New Roman"/>
            </a:endParaRPr>
          </a:p>
        </p:txBody>
      </p:sp>
      <p:pic>
        <p:nvPicPr>
          <p:cNvPr id="5" name="Picture 4" descr="SSE-Computer Science and Engineering">
            <a:extLst>
              <a:ext uri="{FF2B5EF4-FFF2-40B4-BE49-F238E27FC236}">
                <a16:creationId xmlns:a16="http://schemas.microsoft.com/office/drawing/2014/main" id="{7799E96B-75C1-9DB4-A967-3AB0C60C691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08" b="1282"/>
          <a:stretch>
            <a:fillRect/>
          </a:stretch>
        </p:blipFill>
        <p:spPr>
          <a:xfrm>
            <a:off x="692150" y="308504"/>
            <a:ext cx="10796484" cy="874468"/>
          </a:xfrm>
          <a:prstGeom prst="rect">
            <a:avLst/>
          </a:prstGeom>
        </p:spPr>
      </p:pic>
      <p:sp>
        <p:nvSpPr>
          <p:cNvPr id="7" name="TextBox 9">
            <a:extLst>
              <a:ext uri="{FF2B5EF4-FFF2-40B4-BE49-F238E27FC236}">
                <a16:creationId xmlns:a16="http://schemas.microsoft.com/office/drawing/2014/main" id="{9AF1C289-95FD-F336-1B69-06710C890C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4678" y="1437715"/>
            <a:ext cx="10805582" cy="548215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 w="9525">
            <a:noFill/>
            <a:miter lim="800000"/>
          </a:ln>
        </p:spPr>
        <p:txBody>
          <a:bodyPr lIns="91440" tIns="45720" rIns="91440" bIns="4572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sz="3200" b="1" dirty="0">
                <a:solidFill>
                  <a:schemeClr val="bg1"/>
                </a:solidFill>
                <a:latin typeface="Palatino Linotype"/>
                <a:ea typeface="+mj-ea"/>
                <a:cs typeface="+mj-cs"/>
              </a:rPr>
              <a:t>Algorithm</a:t>
            </a:r>
            <a:endParaRPr lang="en-US" sz="3200" b="1" dirty="0">
              <a:solidFill>
                <a:schemeClr val="bg1"/>
              </a:solidFill>
              <a:latin typeface="Palatino Linotype" panose="02040502050505030304" pitchFamily="18" charset="0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/>
          <p:nvPr/>
        </p:nvSpPr>
        <p:spPr>
          <a:xfrm>
            <a:off x="862134" y="1880903"/>
            <a:ext cx="10442562" cy="5367751"/>
          </a:xfrm>
          <a:prstGeom prst="rect">
            <a:avLst/>
          </a:prstGeom>
        </p:spPr>
        <p:txBody>
          <a:bodyPr vert="horz" wrap="square" lIns="0" tIns="15875" rIns="0" bIns="0" rtlCol="0" anchor="t">
            <a:spAutoFit/>
          </a:bodyPr>
          <a:lstStyle/>
          <a:p>
            <a:pPr marL="342900" indent="-342900" algn="just">
              <a:lnSpc>
                <a:spcPct val="150000"/>
              </a:lnSpc>
              <a:buChar char="•"/>
            </a:pPr>
            <a:r>
              <a:rPr lang="en-IN">
                <a:latin typeface="Times New Roman"/>
                <a:cs typeface="Times New Roman"/>
              </a:rPr>
              <a:t>Collect student academic data including attendance, assignment scores, test marks, previous marks, study hours, and final performance. </a:t>
            </a:r>
            <a:endParaRPr lang="en-US">
              <a:latin typeface="Times New Roman"/>
              <a:cs typeface="Times New Roman"/>
            </a:endParaRPr>
          </a:p>
          <a:p>
            <a:pPr marL="342900" indent="-342900" algn="just">
              <a:lnSpc>
                <a:spcPct val="150000"/>
              </a:lnSpc>
              <a:buChar char="•"/>
            </a:pPr>
            <a:r>
              <a:rPr lang="en-IN">
                <a:latin typeface="Times New Roman"/>
                <a:cs typeface="Times New Roman"/>
              </a:rPr>
              <a:t>Load and integrate data from structured sources such as CSV/Excel files into a single dataset. </a:t>
            </a:r>
            <a:endParaRPr lang="en-IN" dirty="0">
              <a:latin typeface="Times New Roman"/>
              <a:cs typeface="Times New Roman"/>
            </a:endParaRPr>
          </a:p>
          <a:p>
            <a:pPr marL="342900" indent="-342900" algn="just">
              <a:lnSpc>
                <a:spcPct val="150000"/>
              </a:lnSpc>
              <a:buChar char="•"/>
            </a:pPr>
            <a:r>
              <a:rPr lang="en-IN">
                <a:latin typeface="Times New Roman"/>
                <a:cs typeface="Times New Roman"/>
              </a:rPr>
              <a:t>Inspect data quality by identifying missing values, duplicate records, inconsistent formats, and invalid entries. </a:t>
            </a:r>
            <a:endParaRPr lang="en-IN" dirty="0">
              <a:latin typeface="Times New Roman"/>
              <a:cs typeface="Times New Roman"/>
            </a:endParaRPr>
          </a:p>
          <a:p>
            <a:pPr marL="342900" indent="-342900" algn="just">
              <a:lnSpc>
                <a:spcPct val="150000"/>
              </a:lnSpc>
              <a:buChar char="•"/>
            </a:pPr>
            <a:r>
              <a:rPr lang="en-IN">
                <a:latin typeface="Times New Roman"/>
                <a:cs typeface="Times New Roman"/>
              </a:rPr>
              <a:t>Clean and transform the dataset by handling missing values, removing duplicates, correcting data types, and standardizing numerical values. </a:t>
            </a:r>
            <a:endParaRPr lang="en-IN" dirty="0">
              <a:latin typeface="Times New Roman"/>
              <a:cs typeface="Times New Roman"/>
            </a:endParaRPr>
          </a:p>
          <a:p>
            <a:pPr marL="342900" indent="-342900" algn="just">
              <a:lnSpc>
                <a:spcPct val="150000"/>
              </a:lnSpc>
              <a:buChar char="•"/>
            </a:pPr>
            <a:r>
              <a:rPr lang="en-IN">
                <a:latin typeface="Times New Roman"/>
                <a:cs typeface="Times New Roman"/>
              </a:rPr>
              <a:t>Encode categorical attributes such as gender and department into a suitable numerical representation for analysis. </a:t>
            </a:r>
            <a:endParaRPr lang="en-IN" dirty="0">
              <a:latin typeface="Times New Roman"/>
              <a:cs typeface="Times New Roman"/>
            </a:endParaRPr>
          </a:p>
          <a:p>
            <a:pPr marL="342900" indent="-342900" algn="just">
              <a:lnSpc>
                <a:spcPct val="150000"/>
              </a:lnSpc>
              <a:buChar char="•"/>
            </a:pPr>
            <a:r>
              <a:rPr lang="en-IN">
                <a:latin typeface="Times New Roman"/>
                <a:cs typeface="Times New Roman"/>
              </a:rPr>
              <a:t>Analyse the cleaned data using basic statistical measures to understand student performance patterns. </a:t>
            </a:r>
            <a:endParaRPr lang="en-IN" dirty="0">
              <a:latin typeface="Times New Roman"/>
              <a:cs typeface="Times New Roman"/>
            </a:endParaRPr>
          </a:p>
          <a:p>
            <a:pPr marL="342900" indent="-342900" algn="just">
              <a:lnSpc>
                <a:spcPct val="150000"/>
              </a:lnSpc>
              <a:buChar char="•"/>
            </a:pPr>
            <a:r>
              <a:rPr lang="en-IN">
                <a:latin typeface="Times New Roman"/>
                <a:cs typeface="Times New Roman"/>
              </a:rPr>
              <a:t>Select relevant features that contribute to predicting student academic performance. </a:t>
            </a:r>
            <a:endParaRPr lang="en-IN" dirty="0">
              <a:latin typeface="Times New Roman"/>
              <a:cs typeface="Times New Roman"/>
            </a:endParaRPr>
          </a:p>
          <a:p>
            <a:pPr marL="342900" indent="-342900" algn="just">
              <a:lnSpc>
                <a:spcPct val="150000"/>
              </a:lnSpc>
              <a:buChar char="•"/>
            </a:pPr>
            <a:r>
              <a:rPr lang="en-IN">
                <a:latin typeface="Times New Roman"/>
                <a:cs typeface="Times New Roman"/>
              </a:rPr>
              <a:t>Generate the final preprocessed dataset and pass it to Module 2 – Performance Prediction using Machine Learning.</a:t>
            </a:r>
            <a:endParaRPr lang="en-IN" dirty="0">
              <a:latin typeface="Times New Roman"/>
              <a:cs typeface="Times New Roman"/>
            </a:endParaRPr>
          </a:p>
          <a:p>
            <a:pPr algn="just">
              <a:lnSpc>
                <a:spcPct val="150000"/>
              </a:lnSpc>
            </a:pPr>
            <a:endParaRPr lang="en-IN" dirty="0">
              <a:latin typeface="Times New Roman"/>
              <a:cs typeface="Times New Roman"/>
            </a:endParaRPr>
          </a:p>
        </p:txBody>
      </p:sp>
      <p:pic>
        <p:nvPicPr>
          <p:cNvPr id="3" name="Picture 2" descr="SSE-Computer Science and Engineering">
            <a:extLst>
              <a:ext uri="{FF2B5EF4-FFF2-40B4-BE49-F238E27FC236}">
                <a16:creationId xmlns:a16="http://schemas.microsoft.com/office/drawing/2014/main" id="{13F1B6AD-A14A-5094-DB72-98DC006DA30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08" b="1282"/>
          <a:stretch>
            <a:fillRect/>
          </a:stretch>
        </p:blipFill>
        <p:spPr>
          <a:xfrm>
            <a:off x="861483" y="308504"/>
            <a:ext cx="10436652" cy="874468"/>
          </a:xfrm>
          <a:prstGeom prst="rect">
            <a:avLst/>
          </a:prstGeom>
        </p:spPr>
      </p:pic>
      <p:sp>
        <p:nvSpPr>
          <p:cNvPr id="6" name="TextBox 9">
            <a:extLst>
              <a:ext uri="{FF2B5EF4-FFF2-40B4-BE49-F238E27FC236}">
                <a16:creationId xmlns:a16="http://schemas.microsoft.com/office/drawing/2014/main" id="{5D807CF9-52F0-B90D-BBBD-91F58DA968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4011" y="1310714"/>
            <a:ext cx="10445749" cy="569382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 w="9525">
            <a:noFill/>
            <a:miter lim="800000"/>
          </a:ln>
        </p:spPr>
        <p:txBody>
          <a:bodyPr lIns="91440" tIns="45720" rIns="91440" bIns="4572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en-IN" sz="3200" dirty="0">
              <a:solidFill>
                <a:schemeClr val="bg1"/>
              </a:solidFill>
              <a:latin typeface="Times New Roman"/>
              <a:ea typeface="Calibri"/>
              <a:cs typeface="Times New Roman"/>
            </a:endParaRPr>
          </a:p>
          <a:p>
            <a:pPr algn="ctr">
              <a:defRPr/>
            </a:pPr>
            <a:r>
              <a:rPr lang="en-IN" sz="3200" dirty="0">
                <a:solidFill>
                  <a:schemeClr val="bg1"/>
                </a:solidFill>
                <a:latin typeface="Times New Roman"/>
                <a:ea typeface="Calibri"/>
                <a:cs typeface="Times New Roman"/>
              </a:rPr>
              <a:t>MODULE 1 -Data Collection &amp; Preprocessing</a:t>
            </a:r>
            <a:endParaRPr lang="en-US" sz="3200">
              <a:solidFill>
                <a:schemeClr val="bg1"/>
              </a:solidFill>
              <a:latin typeface="Times New Roman"/>
              <a:ea typeface="Calibri"/>
              <a:cs typeface="Times New Roman"/>
            </a:endParaRPr>
          </a:p>
          <a:p>
            <a:pPr algn="ctr">
              <a:defRPr/>
            </a:pPr>
            <a:endParaRPr lang="en-US" sz="3200" dirty="0">
              <a:solidFill>
                <a:schemeClr val="bg1"/>
              </a:solidFill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4578B1F6-3440-98D8-A56C-9B25F41883A2}"/>
              </a:ext>
            </a:extLst>
          </p:cNvPr>
          <p:cNvSpPr txBox="1"/>
          <p:nvPr/>
        </p:nvSpPr>
        <p:spPr>
          <a:xfrm>
            <a:off x="856289" y="2214172"/>
            <a:ext cx="10416101" cy="502855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342900" indent="-342900" algn="just">
              <a:lnSpc>
                <a:spcPct val="150000"/>
              </a:lnSpc>
              <a:buChar char="•"/>
            </a:pPr>
            <a:r>
              <a:rPr lang="en-IN">
                <a:latin typeface="Times New Roman"/>
                <a:cs typeface="Times New Roman"/>
              </a:rPr>
              <a:t>Prepare the selected features such as attendance, assignment scores, test marks, study hours, and previous academic performance as model inputs. </a:t>
            </a:r>
            <a:endParaRPr lang="en-US">
              <a:latin typeface="Times New Roman"/>
              <a:cs typeface="Times New Roman"/>
            </a:endParaRPr>
          </a:p>
          <a:p>
            <a:pPr marL="342900" indent="-342900" algn="just">
              <a:lnSpc>
                <a:spcPct val="150000"/>
              </a:lnSpc>
              <a:buChar char="•"/>
            </a:pPr>
            <a:r>
              <a:rPr lang="en-IN">
                <a:latin typeface="Times New Roman"/>
                <a:cs typeface="Times New Roman"/>
              </a:rPr>
              <a:t>Split the preprocessed dataset into training and testing sets for reliable model development and evaluation. </a:t>
            </a:r>
            <a:endParaRPr lang="en-IN" dirty="0">
              <a:latin typeface="Times New Roman"/>
              <a:cs typeface="Times New Roman"/>
            </a:endParaRPr>
          </a:p>
          <a:p>
            <a:pPr marL="342900" indent="-342900" algn="just">
              <a:lnSpc>
                <a:spcPct val="150000"/>
              </a:lnSpc>
              <a:buChar char="•"/>
            </a:pPr>
            <a:r>
              <a:rPr lang="en-IN">
                <a:latin typeface="Times New Roman"/>
                <a:cs typeface="Times New Roman"/>
              </a:rPr>
              <a:t>Train multiple machine learning models including Linear Regression, Decision Tree, and Random Forest to predict students' final performance. </a:t>
            </a:r>
            <a:endParaRPr lang="en-IN" dirty="0">
              <a:latin typeface="Times New Roman"/>
              <a:cs typeface="Times New Roman"/>
            </a:endParaRPr>
          </a:p>
          <a:p>
            <a:pPr marL="342900" indent="-342900" algn="just">
              <a:lnSpc>
                <a:spcPct val="150000"/>
              </a:lnSpc>
              <a:buChar char="•"/>
            </a:pPr>
            <a:r>
              <a:rPr lang="en-IN">
                <a:latin typeface="Times New Roman"/>
                <a:cs typeface="Times New Roman"/>
              </a:rPr>
              <a:t>Generate predicted performance scores for the test data and compare them with the actual final scores. </a:t>
            </a:r>
            <a:endParaRPr lang="en-IN" dirty="0">
              <a:latin typeface="Times New Roman"/>
              <a:cs typeface="Times New Roman"/>
            </a:endParaRPr>
          </a:p>
          <a:p>
            <a:pPr marL="342900" indent="-342900" algn="just">
              <a:lnSpc>
                <a:spcPct val="150000"/>
              </a:lnSpc>
              <a:buChar char="•"/>
            </a:pPr>
            <a:r>
              <a:rPr lang="en-IN">
                <a:latin typeface="Times New Roman"/>
                <a:cs typeface="Times New Roman"/>
              </a:rPr>
              <a:t>Evaluate and compare the models using suitable metrics such as MAE, RMSE, and R² score to identify the best-performing model. </a:t>
            </a:r>
            <a:endParaRPr lang="en-IN" dirty="0">
              <a:latin typeface="Times New Roman"/>
              <a:cs typeface="Times New Roman"/>
            </a:endParaRPr>
          </a:p>
          <a:p>
            <a:pPr marL="342900" indent="-342900" algn="just">
              <a:lnSpc>
                <a:spcPct val="150000"/>
              </a:lnSpc>
              <a:buChar char="•"/>
            </a:pPr>
            <a:r>
              <a:rPr lang="en-IN">
                <a:latin typeface="Times New Roman"/>
                <a:cs typeface="Times New Roman"/>
              </a:rPr>
              <a:t>Use the selected model to predict the final performance of new students. </a:t>
            </a:r>
            <a:endParaRPr lang="en-IN" dirty="0">
              <a:latin typeface="Times New Roman"/>
              <a:cs typeface="Times New Roman"/>
            </a:endParaRPr>
          </a:p>
          <a:p>
            <a:pPr marL="342900" indent="-342900" algn="just">
              <a:lnSpc>
                <a:spcPct val="150000"/>
              </a:lnSpc>
              <a:buChar char="•"/>
            </a:pPr>
            <a:r>
              <a:rPr lang="en-IN">
                <a:latin typeface="Times New Roman"/>
                <a:cs typeface="Times New Roman"/>
              </a:rPr>
              <a:t>Categorize predicted performance into High, Average, and At-Risk</a:t>
            </a:r>
            <a:r>
              <a:rPr lang="en-IN" dirty="0">
                <a:latin typeface="Times New Roman"/>
                <a:cs typeface="Times New Roman"/>
              </a:rPr>
              <a:t> </a:t>
            </a:r>
            <a:r>
              <a:rPr lang="en-IN">
                <a:latin typeface="Times New Roman"/>
                <a:cs typeface="Times New Roman"/>
              </a:rPr>
              <a:t>levels based on predefined performance thresholds.</a:t>
            </a:r>
            <a:endParaRPr lang="en-IN" dirty="0">
              <a:latin typeface="Times New Roman"/>
              <a:cs typeface="Times New Roman"/>
            </a:endParaRPr>
          </a:p>
          <a:p>
            <a:pPr algn="just">
              <a:lnSpc>
                <a:spcPct val="150000"/>
              </a:lnSpc>
              <a:buFont typeface="Arial"/>
            </a:pPr>
            <a:endParaRPr lang="en-IN" dirty="0">
              <a:latin typeface="Times New Roman"/>
              <a:cs typeface="Times New Roman"/>
            </a:endParaRPr>
          </a:p>
        </p:txBody>
      </p:sp>
      <p:pic>
        <p:nvPicPr>
          <p:cNvPr id="4" name="Picture 3" descr="SSE-Computer Science and Engineering">
            <a:extLst>
              <a:ext uri="{FF2B5EF4-FFF2-40B4-BE49-F238E27FC236}">
                <a16:creationId xmlns:a16="http://schemas.microsoft.com/office/drawing/2014/main" id="{7A8BA2E1-8818-6382-3089-9DAE75134B0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08" b="1282"/>
          <a:stretch>
            <a:fillRect/>
          </a:stretch>
        </p:blipFill>
        <p:spPr>
          <a:xfrm>
            <a:off x="861483" y="308504"/>
            <a:ext cx="10436652" cy="874468"/>
          </a:xfrm>
          <a:prstGeom prst="rect">
            <a:avLst/>
          </a:prstGeom>
        </p:spPr>
      </p:pic>
      <p:sp>
        <p:nvSpPr>
          <p:cNvPr id="6" name="TextBox 9">
            <a:extLst>
              <a:ext uri="{FF2B5EF4-FFF2-40B4-BE49-F238E27FC236}">
                <a16:creationId xmlns:a16="http://schemas.microsoft.com/office/drawing/2014/main" id="{0FECE474-224B-CD85-B94B-819FDA8188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4011" y="1448298"/>
            <a:ext cx="10435166" cy="643467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 w="9525">
            <a:noFill/>
            <a:miter lim="800000"/>
          </a:ln>
        </p:spPr>
        <p:txBody>
          <a:bodyPr lIns="91440" tIns="45720" rIns="91440" bIns="4572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en-US" sz="2800" dirty="0">
              <a:solidFill>
                <a:schemeClr val="bg1"/>
              </a:solidFill>
              <a:latin typeface="Times New Roman"/>
              <a:ea typeface="Calibri"/>
              <a:cs typeface="Times New Roman"/>
            </a:endParaRPr>
          </a:p>
          <a:p>
            <a:pPr algn="ctr">
              <a:defRPr/>
            </a:pPr>
            <a:endParaRPr lang="en-US" sz="2800" dirty="0">
              <a:solidFill>
                <a:schemeClr val="bg1"/>
              </a:solidFill>
              <a:latin typeface="Times New Roman"/>
              <a:ea typeface="Calibri"/>
              <a:cs typeface="Times New Roman"/>
            </a:endParaRPr>
          </a:p>
          <a:p>
            <a:pPr algn="ctr">
              <a:defRPr/>
            </a:pPr>
            <a:r>
              <a:rPr lang="en-US" sz="2800" dirty="0">
                <a:solidFill>
                  <a:schemeClr val="bg1"/>
                </a:solidFill>
                <a:latin typeface="Times New Roman"/>
                <a:ea typeface="Calibri"/>
                <a:cs typeface="Times New Roman"/>
              </a:rPr>
              <a:t>MODULE 2 - </a:t>
            </a:r>
            <a:r>
              <a:rPr lang="en-IN" sz="2800" dirty="0">
                <a:solidFill>
                  <a:schemeClr val="bg1"/>
                </a:solidFill>
                <a:latin typeface="Arial"/>
                <a:ea typeface="Calibri"/>
                <a:cs typeface="Arial"/>
              </a:rPr>
              <a:t>Performance Prediction using Machine Learning</a:t>
            </a:r>
          </a:p>
          <a:p>
            <a:pPr algn="ctr">
              <a:defRPr/>
            </a:pPr>
            <a:endParaRPr lang="en-IN" sz="3200" dirty="0">
              <a:solidFill>
                <a:schemeClr val="bg1"/>
              </a:solidFill>
              <a:latin typeface="Times New Roman"/>
              <a:ea typeface="Calibri"/>
              <a:cs typeface="Times New Roman"/>
            </a:endParaRPr>
          </a:p>
          <a:p>
            <a:pPr algn="ctr">
              <a:defRPr/>
            </a:pPr>
            <a:endParaRPr lang="en-US" sz="3200" dirty="0">
              <a:solidFill>
                <a:schemeClr val="bg1"/>
              </a:solidFill>
              <a:latin typeface="Times New Roman"/>
              <a:ea typeface="Calibri"/>
              <a:cs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BD93CDE-D93E-9C62-F384-454B3DFA7B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42A13959-548D-0212-D56B-A74E77B24527}"/>
              </a:ext>
            </a:extLst>
          </p:cNvPr>
          <p:cNvSpPr txBox="1"/>
          <p:nvPr/>
        </p:nvSpPr>
        <p:spPr>
          <a:xfrm>
            <a:off x="876300" y="2140910"/>
            <a:ext cx="10449983" cy="4574137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/>
              <a:buChar char="•"/>
            </a:pPr>
            <a:r>
              <a:rPr lang="en-IN" sz="2000">
                <a:latin typeface="Times New Roman"/>
                <a:cs typeface="Times New Roman"/>
              </a:rPr>
              <a:t>Display key performance indicators (KPIs) such as average marks, pass rate, attendance, and number of at-risk students. </a:t>
            </a:r>
            <a:endParaRPr lang="en-IN" sz="200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342900" indent="-342900" algn="just">
              <a:lnSpc>
                <a:spcPct val="150000"/>
              </a:lnSpc>
              <a:buFont typeface="Arial"/>
              <a:buChar char="•"/>
            </a:pPr>
            <a:r>
              <a:rPr lang="en-IN" sz="2000">
                <a:latin typeface="Times New Roman"/>
                <a:cs typeface="Times New Roman"/>
              </a:rPr>
              <a:t>Visualize performance distributions using charts to show High, Average, and At-Risk students. </a:t>
            </a:r>
            <a:endParaRPr lang="en-IN" sz="2000" dirty="0">
              <a:latin typeface="Times New Roman"/>
              <a:cs typeface="Times New Roman"/>
            </a:endParaRPr>
          </a:p>
          <a:p>
            <a:pPr marL="342900" indent="-342900" algn="just">
              <a:lnSpc>
                <a:spcPct val="150000"/>
              </a:lnSpc>
              <a:buFont typeface="Arial"/>
              <a:buChar char="•"/>
            </a:pPr>
            <a:r>
              <a:rPr lang="en-IN" sz="2000">
                <a:latin typeface="Times New Roman"/>
                <a:cs typeface="Times New Roman"/>
              </a:rPr>
              <a:t>Compare academic performance across subjects, departments, and semesters. </a:t>
            </a:r>
            <a:endParaRPr lang="en-IN" sz="2000" dirty="0">
              <a:latin typeface="Times New Roman"/>
              <a:cs typeface="Times New Roman"/>
            </a:endParaRPr>
          </a:p>
          <a:p>
            <a:pPr marL="342900" indent="-342900" algn="just">
              <a:lnSpc>
                <a:spcPct val="150000"/>
              </a:lnSpc>
              <a:buFont typeface="Arial"/>
              <a:buChar char="•"/>
            </a:pPr>
            <a:r>
              <a:rPr lang="en-IN" sz="2000">
                <a:latin typeface="Times New Roman"/>
                <a:cs typeface="Times New Roman"/>
              </a:rPr>
              <a:t>Provide student-wise performance analysis including marks, attendance, assignments, and predicted performance. </a:t>
            </a:r>
            <a:endParaRPr lang="en-IN" sz="2000" dirty="0">
              <a:latin typeface="Times New Roman"/>
              <a:cs typeface="Times New Roman"/>
            </a:endParaRPr>
          </a:p>
          <a:p>
            <a:pPr marL="342900" indent="-342900" algn="just">
              <a:lnSpc>
                <a:spcPct val="150000"/>
              </a:lnSpc>
              <a:buFont typeface="Arial"/>
              <a:buChar char="•"/>
            </a:pPr>
            <a:r>
              <a:rPr lang="en-IN" sz="2000">
                <a:latin typeface="Times New Roman"/>
                <a:cs typeface="Times New Roman"/>
              </a:rPr>
              <a:t>Identify and highlight at-risk students based on their performance and prediction results. </a:t>
            </a:r>
            <a:endParaRPr lang="en-IN" sz="2000" dirty="0">
              <a:latin typeface="Times New Roman"/>
              <a:cs typeface="Times New Roman"/>
            </a:endParaRPr>
          </a:p>
          <a:p>
            <a:pPr marL="342900" indent="-342900" algn="just">
              <a:lnSpc>
                <a:spcPct val="150000"/>
              </a:lnSpc>
              <a:buFont typeface="Arial"/>
              <a:buChar char="•"/>
            </a:pPr>
            <a:r>
              <a:rPr lang="en-IN" sz="2000">
                <a:latin typeface="Times New Roman"/>
                <a:cs typeface="Times New Roman"/>
              </a:rPr>
              <a:t>Generate actionable insights and summary reports to help faculty understand overall class performance and make informed academic decisions.</a:t>
            </a:r>
            <a:endParaRPr lang="en-IN" sz="2000" dirty="0">
              <a:latin typeface="Times New Roman"/>
              <a:cs typeface="Times New Roman"/>
            </a:endParaRPr>
          </a:p>
          <a:p>
            <a:pPr marL="342900" indent="-342900" algn="just">
              <a:lnSpc>
                <a:spcPct val="150000"/>
              </a:lnSpc>
              <a:buFont typeface="Arial"/>
              <a:buChar char="•"/>
            </a:pPr>
            <a:endParaRPr lang="en-IN" sz="2000" dirty="0">
              <a:latin typeface="Times New Roman"/>
              <a:cs typeface="Times New Roman"/>
            </a:endParaRPr>
          </a:p>
        </p:txBody>
      </p:sp>
      <p:pic>
        <p:nvPicPr>
          <p:cNvPr id="5" name="Picture 4" descr="SSE-Computer Science and Engineering">
            <a:extLst>
              <a:ext uri="{FF2B5EF4-FFF2-40B4-BE49-F238E27FC236}">
                <a16:creationId xmlns:a16="http://schemas.microsoft.com/office/drawing/2014/main" id="{C92CD54C-34CC-73CD-7336-FA3997A23FC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08" b="1282"/>
          <a:stretch>
            <a:fillRect/>
          </a:stretch>
        </p:blipFill>
        <p:spPr>
          <a:xfrm>
            <a:off x="861483" y="308504"/>
            <a:ext cx="10436652" cy="874468"/>
          </a:xfrm>
          <a:prstGeom prst="rect">
            <a:avLst/>
          </a:prstGeom>
        </p:spPr>
      </p:pic>
      <p:sp>
        <p:nvSpPr>
          <p:cNvPr id="7" name="TextBox 9">
            <a:extLst>
              <a:ext uri="{FF2B5EF4-FFF2-40B4-BE49-F238E27FC236}">
                <a16:creationId xmlns:a16="http://schemas.microsoft.com/office/drawing/2014/main" id="{0A22CEF9-0C5A-35ED-EA70-A1B4B9EC29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4011" y="1395381"/>
            <a:ext cx="10445749" cy="505884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 w="9525">
            <a:noFill/>
            <a:miter lim="800000"/>
          </a:ln>
        </p:spPr>
        <p:txBody>
          <a:bodyPr lIns="91440" tIns="45720" rIns="91440" bIns="4572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en-US" sz="2400" b="1" dirty="0">
              <a:solidFill>
                <a:schemeClr val="bg1"/>
              </a:solidFill>
              <a:latin typeface="Times New Roman"/>
              <a:ea typeface="Calibri"/>
              <a:cs typeface="Times New Roman"/>
            </a:endParaRPr>
          </a:p>
          <a:p>
            <a:pPr algn="ctr">
              <a:defRPr/>
            </a:pPr>
            <a:r>
              <a:rPr lang="en-US" sz="2400" b="1" dirty="0">
                <a:solidFill>
                  <a:schemeClr val="bg1"/>
                </a:solidFill>
                <a:latin typeface="Times New Roman"/>
                <a:ea typeface="Calibri"/>
                <a:cs typeface="Times New Roman"/>
              </a:rPr>
              <a:t>MODULE 3 </a:t>
            </a:r>
            <a:r>
              <a:rPr lang="en-US" sz="3200" b="1" dirty="0">
                <a:solidFill>
                  <a:schemeClr val="bg1"/>
                </a:solidFill>
                <a:latin typeface="Times New Roman"/>
                <a:ea typeface="Calibri"/>
                <a:cs typeface="Times New Roman"/>
              </a:rPr>
              <a:t>-</a:t>
            </a:r>
            <a:r>
              <a:rPr lang="en-IN" sz="3200" b="1" dirty="0">
                <a:solidFill>
                  <a:schemeClr val="bg1"/>
                </a:solidFill>
                <a:latin typeface="Arial"/>
                <a:ea typeface="Calibri"/>
                <a:cs typeface="Arial"/>
              </a:rPr>
              <a:t> </a:t>
            </a:r>
            <a:r>
              <a:rPr lang="en-IN" sz="2400" b="1" dirty="0">
                <a:solidFill>
                  <a:schemeClr val="bg1"/>
                </a:solidFill>
                <a:latin typeface="Arial"/>
                <a:ea typeface="Calibri"/>
                <a:cs typeface="Arial"/>
              </a:rPr>
              <a:t>Visualization &amp; </a:t>
            </a:r>
            <a:r>
              <a:rPr lang="en-IN" sz="2400" b="1" dirty="0" err="1">
                <a:solidFill>
                  <a:schemeClr val="bg1"/>
                </a:solidFill>
                <a:latin typeface="Arial"/>
                <a:ea typeface="Calibri"/>
                <a:cs typeface="Arial"/>
              </a:rPr>
              <a:t>InsightDashboard</a:t>
            </a:r>
            <a:endParaRPr lang="en-US" sz="2400">
              <a:solidFill>
                <a:schemeClr val="bg1"/>
              </a:solidFill>
              <a:latin typeface="Arial"/>
              <a:ea typeface="Calibri"/>
              <a:cs typeface="Arial"/>
            </a:endParaRPr>
          </a:p>
          <a:p>
            <a:pPr algn="ctr">
              <a:defRPr/>
            </a:pPr>
            <a:endParaRPr lang="en-US" sz="2000" dirty="0">
              <a:solidFill>
                <a:schemeClr val="bg1"/>
              </a:solidFill>
              <a:latin typeface="Times New Roman"/>
              <a:ea typeface="Calibri"/>
              <a:cs typeface="Times New Roman"/>
            </a:endParaRPr>
          </a:p>
          <a:p>
            <a:pPr algn="ctr">
              <a:defRPr/>
            </a:pPr>
            <a:endParaRPr lang="en-IN" sz="2000" dirty="0">
              <a:solidFill>
                <a:schemeClr val="bg1"/>
              </a:solidFill>
              <a:latin typeface="Arial"/>
              <a:ea typeface="Calibri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961561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8599DFA-3885-5F20-D2D6-F61549E34A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1152" y="1713183"/>
            <a:ext cx="9894146" cy="5036054"/>
          </a:xfrm>
          <a:prstGeom prst="rect">
            <a:avLst/>
          </a:prstGeom>
        </p:spPr>
      </p:pic>
      <p:pic>
        <p:nvPicPr>
          <p:cNvPr id="3" name="Picture 2" descr="SSE-Computer Science and Engineering">
            <a:extLst>
              <a:ext uri="{FF2B5EF4-FFF2-40B4-BE49-F238E27FC236}">
                <a16:creationId xmlns:a16="http://schemas.microsoft.com/office/drawing/2014/main" id="{431163C2-B20D-DBA3-F09A-A41B17BA67D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08" b="1282"/>
          <a:stretch>
            <a:fillRect/>
          </a:stretch>
        </p:blipFill>
        <p:spPr>
          <a:xfrm>
            <a:off x="861483" y="308504"/>
            <a:ext cx="10436652" cy="87446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912286" y="2113435"/>
            <a:ext cx="10359569" cy="5497467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342900" indent="-342900" algn="just">
              <a:lnSpc>
                <a:spcPct val="150000"/>
              </a:lnSpc>
              <a:buChar char="•"/>
            </a:pPr>
            <a:r>
              <a:rPr lang="en-IN" sz="2000">
                <a:latin typeface="Times New Roman"/>
                <a:cs typeface="Times New Roman"/>
              </a:rPr>
              <a:t>Accurate assessment of student academic performance using marks, attendance, assignments, and previous academic records. </a:t>
            </a:r>
            <a:endParaRPr lang="en-US" sz="2000">
              <a:latin typeface="Times New Roman"/>
              <a:cs typeface="Times New Roman"/>
            </a:endParaRPr>
          </a:p>
          <a:p>
            <a:pPr marL="342900" indent="-342900" algn="just">
              <a:lnSpc>
                <a:spcPct val="150000"/>
              </a:lnSpc>
              <a:buChar char="•"/>
            </a:pPr>
            <a:r>
              <a:rPr lang="en-IN" sz="2000">
                <a:latin typeface="Times New Roman"/>
                <a:cs typeface="Times New Roman"/>
              </a:rPr>
              <a:t>Early identification of at-risk students through performance analysis and predicted outcomes. </a:t>
            </a:r>
            <a:endParaRPr lang="en-IN" sz="2000" dirty="0">
              <a:latin typeface="Times New Roman"/>
              <a:cs typeface="Times New Roman"/>
            </a:endParaRPr>
          </a:p>
          <a:p>
            <a:pPr marL="342900" indent="-342900" algn="just">
              <a:lnSpc>
                <a:spcPct val="150000"/>
              </a:lnSpc>
              <a:buChar char="•"/>
            </a:pPr>
            <a:r>
              <a:rPr lang="en-IN" sz="2000">
                <a:latin typeface="Times New Roman"/>
                <a:cs typeface="Times New Roman"/>
              </a:rPr>
              <a:t>Reliable performance prediction using Regression, Decision Tree, and Random Forest models. </a:t>
            </a:r>
            <a:endParaRPr lang="en-IN" sz="2000" dirty="0">
              <a:latin typeface="Times New Roman"/>
              <a:cs typeface="Times New Roman"/>
            </a:endParaRPr>
          </a:p>
          <a:p>
            <a:pPr marL="342900" indent="-342900" algn="just">
              <a:lnSpc>
                <a:spcPct val="150000"/>
              </a:lnSpc>
              <a:buChar char="•"/>
            </a:pPr>
            <a:r>
              <a:rPr lang="en-IN" sz="2000">
                <a:latin typeface="Times New Roman"/>
                <a:cs typeface="Times New Roman"/>
              </a:rPr>
              <a:t>Interactive visualization of student performance trends, comparisons, and key academic indicators through charts and dashboards. </a:t>
            </a:r>
            <a:endParaRPr lang="en-IN" sz="2000" dirty="0">
              <a:latin typeface="Times New Roman"/>
              <a:cs typeface="Times New Roman"/>
            </a:endParaRPr>
          </a:p>
          <a:p>
            <a:pPr marL="342900" indent="-342900" algn="just">
              <a:lnSpc>
                <a:spcPct val="150000"/>
              </a:lnSpc>
              <a:buChar char="•"/>
            </a:pPr>
            <a:r>
              <a:rPr lang="en-IN" sz="2000">
                <a:latin typeface="Times New Roman"/>
                <a:cs typeface="Times New Roman"/>
              </a:rPr>
              <a:t>Actionable academic insights that help faculty provide timely and personalized guidance to students.</a:t>
            </a:r>
            <a:endParaRPr lang="en-IN" sz="2000" dirty="0">
              <a:latin typeface="Times New Roman"/>
              <a:cs typeface="Times New Roman"/>
            </a:endParaRPr>
          </a:p>
          <a:p>
            <a:pPr marL="342900" indent="-342900" algn="just">
              <a:lnSpc>
                <a:spcPct val="150000"/>
              </a:lnSpc>
              <a:buChar char="•"/>
            </a:pPr>
            <a:r>
              <a:rPr lang="en-IN" sz="2000">
                <a:latin typeface="Times New Roman"/>
                <a:cs typeface="Times New Roman"/>
              </a:rPr>
              <a:t>Improved academic decision-making by providing faculty with summarized performance reports and data-driven insights for effective student monitoring</a:t>
            </a:r>
            <a:r>
              <a:rPr lang="en-IN" sz="2000"/>
              <a:t>. </a:t>
            </a:r>
            <a:endParaRPr lang="en-IN" sz="2000" dirty="0">
              <a:latin typeface="Times New Roman"/>
              <a:cs typeface="Times New Roman"/>
            </a:endParaRPr>
          </a:p>
          <a:p>
            <a:pPr marL="342900" indent="-342900" algn="just">
              <a:lnSpc>
                <a:spcPct val="150000"/>
              </a:lnSpc>
              <a:buChar char="•"/>
            </a:pPr>
            <a:endParaRPr lang="en-IN" sz="2000" dirty="0">
              <a:latin typeface="Times New Roman"/>
              <a:cs typeface="Times New Roman"/>
            </a:endParaRPr>
          </a:p>
          <a:p>
            <a:pPr algn="just">
              <a:lnSpc>
                <a:spcPct val="150000"/>
              </a:lnSpc>
            </a:pPr>
            <a:endParaRPr lang="en-IN" sz="2000" dirty="0">
              <a:latin typeface="Times New Roman"/>
              <a:cs typeface="Times New Roman"/>
            </a:endParaRPr>
          </a:p>
        </p:txBody>
      </p:sp>
      <p:pic>
        <p:nvPicPr>
          <p:cNvPr id="5" name="Picture 4" descr="SSE-Computer Science and Engineering">
            <a:extLst>
              <a:ext uri="{FF2B5EF4-FFF2-40B4-BE49-F238E27FC236}">
                <a16:creationId xmlns:a16="http://schemas.microsoft.com/office/drawing/2014/main" id="{AC96A6AD-EB41-547E-4C85-F018BFA3E1B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08" b="1282"/>
          <a:stretch>
            <a:fillRect/>
          </a:stretch>
        </p:blipFill>
        <p:spPr>
          <a:xfrm>
            <a:off x="903817" y="361421"/>
            <a:ext cx="10320234" cy="874468"/>
          </a:xfrm>
          <a:prstGeom prst="rect">
            <a:avLst/>
          </a:prstGeom>
        </p:spPr>
      </p:pic>
      <p:sp>
        <p:nvSpPr>
          <p:cNvPr id="7" name="TextBox 9">
            <a:extLst>
              <a:ext uri="{FF2B5EF4-FFF2-40B4-BE49-F238E27FC236}">
                <a16:creationId xmlns:a16="http://schemas.microsoft.com/office/drawing/2014/main" id="{486D31AF-453A-E671-7A96-5041E13981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6344" y="1437715"/>
            <a:ext cx="10329333" cy="548215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 w="9525">
            <a:noFill/>
            <a:miter lim="800000"/>
          </a:ln>
        </p:spPr>
        <p:txBody>
          <a:bodyPr lIns="91440" tIns="45720" rIns="91440" bIns="4572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sz="3200" b="1" dirty="0">
                <a:solidFill>
                  <a:schemeClr val="bg1"/>
                </a:solidFill>
                <a:ea typeface="Calibri"/>
                <a:cs typeface="Calibri"/>
              </a:rPr>
              <a:t>Result</a:t>
            </a:r>
            <a:endParaRPr lang="en-US" b="1">
              <a:solidFill>
                <a:schemeClr val="bg1"/>
              </a:solidFill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SSE-Computer Science and Engineering">
            <a:extLst>
              <a:ext uri="{FF2B5EF4-FFF2-40B4-BE49-F238E27FC236}">
                <a16:creationId xmlns:a16="http://schemas.microsoft.com/office/drawing/2014/main" id="{2263BD14-3BEB-915B-CFAE-A5B5658CD66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08" b="1282"/>
          <a:stretch>
            <a:fillRect/>
          </a:stretch>
        </p:blipFill>
        <p:spPr>
          <a:xfrm>
            <a:off x="861483" y="308504"/>
            <a:ext cx="10436652" cy="874468"/>
          </a:xfrm>
          <a:prstGeom prst="rect">
            <a:avLst/>
          </a:prstGeom>
        </p:spPr>
      </p:pic>
      <p:sp>
        <p:nvSpPr>
          <p:cNvPr id="12" name="TextBox 9">
            <a:extLst>
              <a:ext uri="{FF2B5EF4-FFF2-40B4-BE49-F238E27FC236}">
                <a16:creationId xmlns:a16="http://schemas.microsoft.com/office/drawing/2014/main" id="{6EDE0C6C-D3D1-1C1F-67F4-EC64BD17B7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4678" y="1437715"/>
            <a:ext cx="10805582" cy="548215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 w="9525">
            <a:noFill/>
            <a:miter lim="800000"/>
          </a:ln>
        </p:spPr>
        <p:txBody>
          <a:bodyPr lIns="91440" tIns="45720" rIns="91440" bIns="4572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sz="3200" b="1" dirty="0">
                <a:solidFill>
                  <a:schemeClr val="bg1"/>
                </a:solidFill>
                <a:ea typeface="Calibri"/>
                <a:cs typeface="Calibri"/>
              </a:rPr>
              <a:t>Output Screenshots</a:t>
            </a:r>
          </a:p>
        </p:txBody>
      </p:sp>
    </p:spTree>
    <p:extLst>
      <p:ext uri="{BB962C8B-B14F-4D97-AF65-F5344CB8AC3E}">
        <p14:creationId xmlns:p14="http://schemas.microsoft.com/office/powerpoint/2010/main" val="22443406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SSE-Computer Science and Engineering">
            <a:extLst>
              <a:ext uri="{FF2B5EF4-FFF2-40B4-BE49-F238E27FC236}">
                <a16:creationId xmlns:a16="http://schemas.microsoft.com/office/drawing/2014/main" id="{454DF9AA-3292-8866-1BD8-ACF0A29F371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08" b="1282"/>
          <a:stretch>
            <a:fillRect/>
          </a:stretch>
        </p:blipFill>
        <p:spPr>
          <a:xfrm>
            <a:off x="861483" y="308504"/>
            <a:ext cx="10436652" cy="874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37196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SSE-Computer Science and Engineering">
            <a:extLst>
              <a:ext uri="{FF2B5EF4-FFF2-40B4-BE49-F238E27FC236}">
                <a16:creationId xmlns:a16="http://schemas.microsoft.com/office/drawing/2014/main" id="{8F28E60B-9FBB-81E6-EAEF-94FE2AFA0A5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08" b="1282"/>
          <a:stretch>
            <a:fillRect/>
          </a:stretch>
        </p:blipFill>
        <p:spPr>
          <a:xfrm>
            <a:off x="861483" y="308504"/>
            <a:ext cx="10436652" cy="874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35831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597301-AE5C-1FCF-60E2-7738109B57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9347" y="2109999"/>
            <a:ext cx="10429240" cy="4936223"/>
          </a:xfrm>
        </p:spPr>
        <p:txBody>
          <a:bodyPr wrap="square" lIns="0" tIns="0" rIns="0" bIns="0" anchor="t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/>
              <a:buChar char="•"/>
            </a:pPr>
            <a:r>
              <a:rPr lang="en-US" sz="1800" i="0">
                <a:latin typeface="Times New Roman"/>
                <a:ea typeface="Calibri"/>
                <a:cs typeface="Times New Roman"/>
              </a:rPr>
              <a:t>Real-time data integration can be introduced to automatically update student performance whenever new academic records are added. </a:t>
            </a:r>
            <a:endParaRPr lang="en-US" sz="1800" dirty="0">
              <a:latin typeface="Times New Roman"/>
              <a:ea typeface="Calibri"/>
              <a:cs typeface="Times New Roman"/>
            </a:endParaRPr>
          </a:p>
          <a:p>
            <a:pPr marL="285750" indent="-285750" algn="just">
              <a:lnSpc>
                <a:spcPct val="150000"/>
              </a:lnSpc>
              <a:buFont typeface="Arial"/>
              <a:buChar char="•"/>
            </a:pPr>
            <a:r>
              <a:rPr lang="en-US" sz="1800" i="0">
                <a:latin typeface="Times New Roman"/>
                <a:ea typeface="Calibri"/>
                <a:cs typeface="Times New Roman"/>
              </a:rPr>
              <a:t>Advanced machine learning and deep learning models can be implemented to improve prediction accuracy. </a:t>
            </a:r>
            <a:endParaRPr lang="en-US" sz="1800" dirty="0">
              <a:latin typeface="Times New Roman"/>
              <a:ea typeface="Calibri"/>
              <a:cs typeface="Times New Roman"/>
            </a:endParaRPr>
          </a:p>
          <a:p>
            <a:pPr marL="285750" indent="-285750" algn="just">
              <a:lnSpc>
                <a:spcPct val="150000"/>
              </a:lnSpc>
              <a:buFont typeface="Arial"/>
              <a:buChar char="•"/>
            </a:pPr>
            <a:r>
              <a:rPr lang="en-US" sz="1800" i="0">
                <a:latin typeface="Times New Roman"/>
                <a:ea typeface="Calibri"/>
                <a:cs typeface="Times New Roman"/>
              </a:rPr>
              <a:t>Personalized recommendations can be provided to students based on their performance, strengths, weaknesses, and learning patterns. </a:t>
            </a:r>
            <a:endParaRPr lang="en-US" sz="1800" dirty="0">
              <a:latin typeface="Times New Roman"/>
              <a:ea typeface="Calibri"/>
              <a:cs typeface="Times New Roman"/>
            </a:endParaRPr>
          </a:p>
          <a:p>
            <a:pPr marL="285750" indent="-285750" algn="just">
              <a:lnSpc>
                <a:spcPct val="150000"/>
              </a:lnSpc>
              <a:buFont typeface="Arial"/>
              <a:buChar char="•"/>
            </a:pPr>
            <a:r>
              <a:rPr lang="en-US" sz="1800" i="0">
                <a:latin typeface="Times New Roman"/>
                <a:ea typeface="Calibri"/>
                <a:cs typeface="Times New Roman"/>
              </a:rPr>
              <a:t>Student progress tracking can be extended to monitor performance over multiple semesters and identify long-term academic trends.</a:t>
            </a:r>
          </a:p>
          <a:p>
            <a:pPr marL="285750" indent="-285750" algn="just">
              <a:lnSpc>
                <a:spcPct val="150000"/>
              </a:lnSpc>
              <a:buFont typeface="Arial"/>
              <a:buChar char="•"/>
            </a:pPr>
            <a:r>
              <a:rPr lang="en-US" sz="1800" i="0">
                <a:latin typeface="Times New Roman"/>
                <a:ea typeface="Calibri"/>
                <a:cs typeface="Times New Roman"/>
              </a:rPr>
              <a:t>Early-warning notifications can be added to alert faculty when a student's performance shows signs of decline. </a:t>
            </a:r>
            <a:endParaRPr lang="en-US" sz="1800" dirty="0">
              <a:latin typeface="Times New Roman"/>
              <a:ea typeface="Calibri"/>
              <a:cs typeface="Times New Roman"/>
            </a:endParaRPr>
          </a:p>
          <a:p>
            <a:pPr marL="285750" indent="-285750" algn="just">
              <a:lnSpc>
                <a:spcPct val="150000"/>
              </a:lnSpc>
              <a:buFont typeface="Arial"/>
              <a:buChar char="•"/>
            </a:pPr>
            <a:r>
              <a:rPr lang="en-US" sz="1800" i="0">
                <a:latin typeface="Times New Roman"/>
                <a:ea typeface="Calibri"/>
                <a:cs typeface="Times New Roman"/>
              </a:rPr>
              <a:t>Mobile and cloud-based deployment can make the system accessible to faculty and students from anywhere. </a:t>
            </a:r>
            <a:endParaRPr lang="en-US" sz="1800" dirty="0">
              <a:latin typeface="Times New Roman"/>
              <a:ea typeface="Calibri"/>
              <a:cs typeface="Times New Roman"/>
            </a:endParaRPr>
          </a:p>
          <a:p>
            <a:pPr marL="285750" indent="-285750" algn="just">
              <a:lnSpc>
                <a:spcPct val="150000"/>
              </a:lnSpc>
              <a:buFont typeface="Arial"/>
              <a:buChar char="•"/>
            </a:pPr>
            <a:r>
              <a:rPr lang="en-US" sz="1800" i="0">
                <a:latin typeface="Times New Roman"/>
                <a:ea typeface="Calibri"/>
                <a:cs typeface="Times New Roman"/>
              </a:rPr>
              <a:t>Advanced analytics and explainable AI can be incorporated to identify why a student is predicted to be at risk and support better academic decision-making.</a:t>
            </a:r>
            <a:endParaRPr lang="en-US" sz="1800" dirty="0">
              <a:latin typeface="Times New Roman"/>
              <a:ea typeface="Calibri"/>
              <a:cs typeface="Times New Roman"/>
            </a:endParaRPr>
          </a:p>
          <a:p>
            <a:pPr algn="just">
              <a:lnSpc>
                <a:spcPct val="150000"/>
              </a:lnSpc>
            </a:pPr>
            <a:endParaRPr lang="en-US" sz="1800" dirty="0">
              <a:latin typeface="Times New Roman"/>
              <a:ea typeface="Calibri"/>
              <a:cs typeface="Times New Roman"/>
            </a:endParaRPr>
          </a:p>
        </p:txBody>
      </p:sp>
      <p:pic>
        <p:nvPicPr>
          <p:cNvPr id="5" name="Picture 4" descr="SSE-Computer Science and Engineering">
            <a:extLst>
              <a:ext uri="{FF2B5EF4-FFF2-40B4-BE49-F238E27FC236}">
                <a16:creationId xmlns:a16="http://schemas.microsoft.com/office/drawing/2014/main" id="{62B865F9-9D72-3893-13D9-0E28BD1665E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08" b="1282"/>
          <a:stretch>
            <a:fillRect/>
          </a:stretch>
        </p:blipFill>
        <p:spPr>
          <a:xfrm>
            <a:off x="861483" y="308504"/>
            <a:ext cx="10436652" cy="874468"/>
          </a:xfrm>
          <a:prstGeom prst="rect">
            <a:avLst/>
          </a:prstGeom>
        </p:spPr>
      </p:pic>
      <p:sp>
        <p:nvSpPr>
          <p:cNvPr id="7" name="TextBox 9">
            <a:extLst>
              <a:ext uri="{FF2B5EF4-FFF2-40B4-BE49-F238E27FC236}">
                <a16:creationId xmlns:a16="http://schemas.microsoft.com/office/drawing/2014/main" id="{98906E7E-B82A-5366-4038-BF67DBB83A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4678" y="1300132"/>
            <a:ext cx="10805582" cy="548215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 w="9525">
            <a:noFill/>
            <a:miter lim="800000"/>
          </a:ln>
        </p:spPr>
        <p:txBody>
          <a:bodyPr lIns="91440" tIns="45720" rIns="91440" bIns="4572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sz="3200" b="1">
                <a:solidFill>
                  <a:schemeClr val="bg1"/>
                </a:solidFill>
                <a:ea typeface="Calibri"/>
                <a:cs typeface="Calibri"/>
              </a:rPr>
              <a:t>Future Scope</a:t>
            </a:r>
            <a:endParaRPr lang="en-US" sz="3200" b="1" dirty="0">
              <a:solidFill>
                <a:schemeClr val="bg1"/>
              </a:solidFill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1121918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698065" y="1845392"/>
            <a:ext cx="10945283" cy="5365187"/>
          </a:xfrm>
          <a:prstGeom prst="rect">
            <a:avLst/>
          </a:prstGeom>
        </p:spPr>
        <p:txBody>
          <a:bodyPr vert="horz" wrap="square" lIns="0" tIns="13335" rIns="0" bIns="0" rtlCol="0" anchor="t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/>
              <a:buChar char="•"/>
            </a:pPr>
            <a:r>
              <a:rPr lang="en-IN">
                <a:latin typeface="Times New Roman"/>
                <a:cs typeface="Times New Roman"/>
              </a:rPr>
              <a:t>The proposed Student Performance Analyser provides a systematic and data-driven approach to analysing student academic performance. </a:t>
            </a:r>
            <a:endParaRPr lang="en-IN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342900" indent="-342900" algn="just">
              <a:lnSpc>
                <a:spcPct val="150000"/>
              </a:lnSpc>
              <a:buFont typeface="Arial"/>
              <a:buChar char="•"/>
            </a:pPr>
            <a:r>
              <a:rPr lang="en-IN">
                <a:latin typeface="Times New Roman"/>
                <a:cs typeface="Times New Roman"/>
              </a:rPr>
              <a:t>The system uses data preprocessing, Exploratory Data Analysis, and machine learning techniques to identify important factors influencing student outcomes. </a:t>
            </a:r>
            <a:endParaRPr lang="en-IN" dirty="0">
              <a:latin typeface="Times New Roman"/>
              <a:cs typeface="Times New Roman"/>
            </a:endParaRPr>
          </a:p>
          <a:p>
            <a:pPr marL="342900" indent="-342900" algn="just">
              <a:lnSpc>
                <a:spcPct val="150000"/>
              </a:lnSpc>
              <a:buFont typeface="Arial"/>
              <a:buChar char="•"/>
            </a:pPr>
            <a:r>
              <a:rPr lang="en-IN">
                <a:latin typeface="Times New Roman"/>
                <a:cs typeface="Times New Roman"/>
              </a:rPr>
              <a:t>Machine learning models such as Regression, Decision Tree, and Random Forest enable effective prediction of student performance. </a:t>
            </a:r>
            <a:endParaRPr lang="en-IN" dirty="0">
              <a:latin typeface="Times New Roman"/>
              <a:cs typeface="Times New Roman"/>
            </a:endParaRPr>
          </a:p>
          <a:p>
            <a:pPr marL="342900" indent="-342900" algn="just">
              <a:lnSpc>
                <a:spcPct val="150000"/>
              </a:lnSpc>
              <a:buFont typeface="Arial"/>
              <a:buChar char="•"/>
            </a:pPr>
            <a:r>
              <a:rPr lang="en-IN">
                <a:latin typeface="Times New Roman"/>
                <a:cs typeface="Times New Roman"/>
              </a:rPr>
              <a:t>The interactive dashboard presents overall, subject-wise, and student-wise performance through clear charts, statistics, and visual reports. </a:t>
            </a:r>
            <a:endParaRPr lang="en-IN" dirty="0">
              <a:latin typeface="Times New Roman"/>
              <a:cs typeface="Times New Roman"/>
            </a:endParaRPr>
          </a:p>
          <a:p>
            <a:pPr marL="342900" indent="-342900" algn="just">
              <a:lnSpc>
                <a:spcPct val="150000"/>
              </a:lnSpc>
              <a:buFont typeface="Arial"/>
              <a:buChar char="•"/>
            </a:pPr>
            <a:r>
              <a:rPr lang="en-IN">
                <a:latin typeface="Times New Roman"/>
                <a:cs typeface="Times New Roman"/>
              </a:rPr>
              <a:t>The system helps in early identification of at-risk students, enabling faculty to take timely academic support measures. </a:t>
            </a:r>
            <a:endParaRPr lang="en-IN" dirty="0">
              <a:latin typeface="Times New Roman"/>
              <a:cs typeface="Times New Roman"/>
            </a:endParaRPr>
          </a:p>
          <a:p>
            <a:pPr marL="342900" indent="-342900" algn="just">
              <a:lnSpc>
                <a:spcPct val="150000"/>
              </a:lnSpc>
              <a:buFont typeface="Arial"/>
              <a:buChar char="•"/>
            </a:pPr>
            <a:r>
              <a:rPr lang="en-IN">
                <a:latin typeface="Times New Roman"/>
                <a:cs typeface="Times New Roman"/>
              </a:rPr>
              <a:t>Overall, the proposed system improves performance monitoring, data-driven decision-making, and personalized academic guidance compared with traditional manual evaluation. </a:t>
            </a:r>
            <a:endParaRPr lang="en-IN" dirty="0">
              <a:latin typeface="Times New Roman"/>
              <a:cs typeface="Times New Roman"/>
            </a:endParaRPr>
          </a:p>
          <a:p>
            <a:pPr marL="342900" indent="-342900" algn="just">
              <a:lnSpc>
                <a:spcPct val="150000"/>
              </a:lnSpc>
              <a:buFont typeface="Arial"/>
              <a:buChar char="•"/>
            </a:pPr>
            <a:endParaRPr lang="en-IN" dirty="0">
              <a:latin typeface="Times New Roman"/>
              <a:cs typeface="Times New Roman"/>
            </a:endParaRPr>
          </a:p>
        </p:txBody>
      </p:sp>
      <p:pic>
        <p:nvPicPr>
          <p:cNvPr id="5" name="Picture 4" descr="SSE-Computer Science and Engineering">
            <a:extLst>
              <a:ext uri="{FF2B5EF4-FFF2-40B4-BE49-F238E27FC236}">
                <a16:creationId xmlns:a16="http://schemas.microsoft.com/office/drawing/2014/main" id="{280FFA72-4000-8660-595C-2F03F099A86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08" b="1282"/>
          <a:stretch>
            <a:fillRect/>
          </a:stretch>
        </p:blipFill>
        <p:spPr>
          <a:xfrm>
            <a:off x="861483" y="308504"/>
            <a:ext cx="10616568" cy="874468"/>
          </a:xfrm>
          <a:prstGeom prst="rect">
            <a:avLst/>
          </a:prstGeom>
        </p:spPr>
      </p:pic>
      <p:sp>
        <p:nvSpPr>
          <p:cNvPr id="8" name="TextBox 9">
            <a:extLst>
              <a:ext uri="{FF2B5EF4-FFF2-40B4-BE49-F238E27FC236}">
                <a16:creationId xmlns:a16="http://schemas.microsoft.com/office/drawing/2014/main" id="{1CC07B63-658C-D7A1-513E-B52615E7ED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4678" y="1300132"/>
            <a:ext cx="10805582" cy="548215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 w="9525">
            <a:noFill/>
            <a:miter lim="800000"/>
          </a:ln>
        </p:spPr>
        <p:txBody>
          <a:bodyPr lIns="91440" tIns="45720" rIns="91440" bIns="4572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sz="3200" b="1" dirty="0">
                <a:solidFill>
                  <a:schemeClr val="bg1"/>
                </a:solidFill>
                <a:ea typeface="Calibri"/>
                <a:cs typeface="Calibri"/>
              </a:rPr>
              <a:t>Conclusion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xfrm>
            <a:off x="694266" y="2245736"/>
            <a:ext cx="10810240" cy="4769896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457200" indent="-457200" algn="just">
              <a:lnSpc>
                <a:spcPct val="150000"/>
              </a:lnSpc>
              <a:buAutoNum type="arabicPeriod"/>
            </a:pPr>
            <a:r>
              <a:rPr lang="en-IN" sz="1600" i="0">
                <a:ea typeface="Calibri"/>
              </a:rPr>
              <a:t>Y. Lou and K. F. Colvin, “Performance Prediction Using Educational Data Mining Techniques: A Comparative Study,”</a:t>
            </a:r>
            <a:r>
              <a:rPr lang="en-IN" sz="1600" i="0" dirty="0">
                <a:ea typeface="Calibri"/>
              </a:rPr>
              <a:t> </a:t>
            </a:r>
            <a:r>
              <a:rPr lang="en-IN" sz="1600">
                <a:ea typeface="Calibri"/>
              </a:rPr>
              <a:t>Discover Education</a:t>
            </a:r>
            <a:r>
              <a:rPr lang="en-IN" sz="1600" i="0">
                <a:ea typeface="Calibri"/>
              </a:rPr>
              <a:t>, vol. 4, article 112, 2025. </a:t>
            </a:r>
            <a:endParaRPr lang="en-IN" sz="1600" i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lnSpc>
                <a:spcPct val="150000"/>
              </a:lnSpc>
              <a:buAutoNum type="arabicPeriod"/>
            </a:pPr>
            <a:r>
              <a:rPr lang="en-IN" sz="1600" i="0">
                <a:ea typeface="Calibri"/>
              </a:rPr>
              <a:t>“Prediction of Student Performance in E-Learning Environment Using Machine Learning Techniques,”</a:t>
            </a:r>
            <a:r>
              <a:rPr lang="en-IN" sz="1600" i="0" dirty="0">
                <a:ea typeface="Calibri"/>
              </a:rPr>
              <a:t> </a:t>
            </a:r>
            <a:r>
              <a:rPr lang="en-IN" sz="1600">
                <a:ea typeface="Calibri"/>
              </a:rPr>
              <a:t>Procedia Computer Science</a:t>
            </a:r>
            <a:r>
              <a:rPr lang="en-IN" sz="1600" i="0">
                <a:ea typeface="Calibri"/>
              </a:rPr>
              <a:t>, vol. 259, pp. 1416–1425, 2025. </a:t>
            </a:r>
            <a:endParaRPr lang="en-IN" sz="1600">
              <a:ea typeface="Calibri"/>
            </a:endParaRPr>
          </a:p>
          <a:p>
            <a:pPr marL="457200" indent="-457200" algn="just">
              <a:lnSpc>
                <a:spcPct val="150000"/>
              </a:lnSpc>
              <a:buAutoNum type="arabicPeriod"/>
            </a:pPr>
            <a:r>
              <a:rPr lang="en-IN" sz="1600" i="0">
                <a:ea typeface="Calibri"/>
              </a:rPr>
              <a:t>“The Integration of Explainable AI in Educational Data Mining for Student Academic Performance Prediction and Support System,”</a:t>
            </a:r>
            <a:r>
              <a:rPr lang="en-IN" sz="1600" i="0" dirty="0">
                <a:ea typeface="Calibri"/>
              </a:rPr>
              <a:t> </a:t>
            </a:r>
            <a:r>
              <a:rPr lang="en-IN" sz="1600">
                <a:ea typeface="Calibri"/>
              </a:rPr>
              <a:t>Telematics and Informatics Reports</a:t>
            </a:r>
            <a:r>
              <a:rPr lang="en-IN" sz="1600" i="0">
                <a:ea typeface="Calibri"/>
              </a:rPr>
              <a:t>, vol. 18, article 100203, 2025. </a:t>
            </a:r>
            <a:endParaRPr lang="en-IN" sz="1600">
              <a:ea typeface="Calibri"/>
            </a:endParaRPr>
          </a:p>
          <a:p>
            <a:pPr marL="457200" indent="-457200" algn="just">
              <a:lnSpc>
                <a:spcPct val="150000"/>
              </a:lnSpc>
              <a:buAutoNum type="arabicPeriod"/>
            </a:pPr>
            <a:r>
              <a:rPr lang="en-IN" sz="1600" i="0">
                <a:ea typeface="Calibri"/>
              </a:rPr>
              <a:t>“Predictive Analytics in Education – Enhancing Student Achievement Through Machine Learning,”</a:t>
            </a:r>
            <a:r>
              <a:rPr lang="en-IN" sz="1600" i="0" dirty="0">
                <a:ea typeface="Calibri"/>
              </a:rPr>
              <a:t> </a:t>
            </a:r>
            <a:r>
              <a:rPr lang="en-IN" sz="1600">
                <a:ea typeface="Calibri"/>
              </a:rPr>
              <a:t>Social Sciences &amp; Humanities Open</a:t>
            </a:r>
            <a:r>
              <a:rPr lang="en-IN" sz="1600" i="0">
                <a:ea typeface="Calibri"/>
              </a:rPr>
              <a:t>, vol. 12, article 101824, 2025. </a:t>
            </a:r>
            <a:endParaRPr lang="en-IN" sz="1600">
              <a:ea typeface="Calibri"/>
            </a:endParaRPr>
          </a:p>
          <a:p>
            <a:pPr marL="457200" indent="-457200" algn="just">
              <a:lnSpc>
                <a:spcPct val="150000"/>
              </a:lnSpc>
              <a:buAutoNum type="arabicPeriod"/>
            </a:pPr>
            <a:r>
              <a:rPr lang="en-IN" sz="1600" i="0">
                <a:ea typeface="Calibri"/>
              </a:rPr>
              <a:t>Y. Lou and K. F. Colvin, “Performance Prediction Using Educational Data Mining Techniques: A Comparative Study,”</a:t>
            </a:r>
            <a:r>
              <a:rPr lang="en-IN" sz="1600" i="0" dirty="0">
                <a:ea typeface="Calibri"/>
              </a:rPr>
              <a:t> </a:t>
            </a:r>
            <a:r>
              <a:rPr lang="en-IN" sz="1600">
                <a:ea typeface="Calibri"/>
              </a:rPr>
              <a:t>Discover Education</a:t>
            </a:r>
            <a:r>
              <a:rPr lang="en-IN" sz="1600" i="0">
                <a:ea typeface="Calibri"/>
              </a:rPr>
              <a:t>, 2025. — Particularly relevant to your use of regression, decision tree, and random forest models. </a:t>
            </a:r>
            <a:endParaRPr lang="en-IN" sz="1600">
              <a:ea typeface="Calibri"/>
            </a:endParaRPr>
          </a:p>
          <a:p>
            <a:pPr marL="457200" indent="-457200" algn="just">
              <a:lnSpc>
                <a:spcPct val="150000"/>
              </a:lnSpc>
              <a:buAutoNum type="arabicPeriod"/>
            </a:pPr>
            <a:r>
              <a:rPr lang="en-IN" sz="1600" i="0">
                <a:ea typeface="Calibri"/>
              </a:rPr>
              <a:t>“Predicting Student Performance: A Comprehensive Review of Machine Learning, Deep Learning, and Explainable AI Approaches,”</a:t>
            </a:r>
            <a:r>
              <a:rPr lang="en-IN" sz="1600" i="0" dirty="0">
                <a:ea typeface="Calibri"/>
              </a:rPr>
              <a:t> </a:t>
            </a:r>
            <a:r>
              <a:rPr lang="en-IN" sz="1600">
                <a:ea typeface="Calibri"/>
              </a:rPr>
              <a:t>Computers and Education: Artificial Intelligence</a:t>
            </a:r>
            <a:r>
              <a:rPr lang="en-IN" sz="1600" i="0">
                <a:ea typeface="Calibri"/>
              </a:rPr>
              <a:t>, vol. 10, article 100548, 2026. </a:t>
            </a:r>
            <a:endParaRPr lang="en-IN" sz="1600">
              <a:ea typeface="Calibri"/>
            </a:endParaRPr>
          </a:p>
          <a:p>
            <a:pPr marL="457200" lvl="0" indent="-457200" algn="just">
              <a:lnSpc>
                <a:spcPct val="150000"/>
              </a:lnSpc>
              <a:buAutoNum type="arabicPeriod"/>
            </a:pPr>
            <a:endParaRPr lang="en-IN" sz="1600" i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 descr="SSE-Computer Science and Engineering">
            <a:extLst>
              <a:ext uri="{FF2B5EF4-FFF2-40B4-BE49-F238E27FC236}">
                <a16:creationId xmlns:a16="http://schemas.microsoft.com/office/drawing/2014/main" id="{32ECA2B9-59FE-FC82-B113-712A38C76B7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08" b="1282"/>
          <a:stretch>
            <a:fillRect/>
          </a:stretch>
        </p:blipFill>
        <p:spPr>
          <a:xfrm>
            <a:off x="861483" y="308504"/>
            <a:ext cx="10436652" cy="874468"/>
          </a:xfrm>
          <a:prstGeom prst="rect">
            <a:avLst/>
          </a:prstGeom>
        </p:spPr>
      </p:pic>
      <p:sp>
        <p:nvSpPr>
          <p:cNvPr id="11" name="TextBox 9">
            <a:extLst>
              <a:ext uri="{FF2B5EF4-FFF2-40B4-BE49-F238E27FC236}">
                <a16:creationId xmlns:a16="http://schemas.microsoft.com/office/drawing/2014/main" id="{67AEC220-561F-2A41-8D0E-B03420E7D5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4678" y="1437715"/>
            <a:ext cx="10805582" cy="548215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 w="9525">
            <a:noFill/>
            <a:miter lim="800000"/>
          </a:ln>
        </p:spPr>
        <p:txBody>
          <a:bodyPr lIns="91440" tIns="45720" rIns="91440" bIns="4572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sz="3200" b="1" dirty="0">
                <a:solidFill>
                  <a:schemeClr val="bg1"/>
                </a:solidFill>
                <a:ea typeface="Calibri"/>
                <a:cs typeface="Calibri"/>
              </a:rPr>
              <a:t>References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0BF4CEA-6DB9-0A0C-F697-34F4F796FF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664"/>
            <a:ext cx="12192000" cy="683833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350</TotalTime>
  <Words>790</Words>
  <Application>Microsoft Office PowerPoint</Application>
  <PresentationFormat>Widescreen</PresentationFormat>
  <Paragraphs>68</Paragraphs>
  <Slides>17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Office Theme</vt:lpstr>
      <vt:lpstr>DSA0404  - FUNDAMENTALS   OF  DATA  SCIENCE 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CSA0837 – Python programming for Application development</dc:title>
  <dc:creator>Ganesh Sai</dc:creator>
  <cp:lastModifiedBy>Sravan Kumar</cp:lastModifiedBy>
  <cp:revision>400</cp:revision>
  <dcterms:created xsi:type="dcterms:W3CDTF">2026-02-05T10:01:27Z</dcterms:created>
  <dcterms:modified xsi:type="dcterms:W3CDTF">2026-09-04T03:37:55Z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2026-01-24T00:00:00Z</vt:filetime>
  </property>
  <property fmtid="{D5CDD505-2E9C-101B-9397-08002B2CF9AE}" pid="3" name="LastSaved">
    <vt:filetime>2026-02-05T00:00:00Z</vt:filetime>
  </property>
</Properties>
</file>